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97733b1af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97733b1af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Title. Introduce myself and the project. The whole talk is about one specific waste: a header shared across modules gets its source locations duplicated once per module at load time, and that eats a finite address space.</a:t>
            </a:r>
            <a:endParaRPr/>
          </a:p>
        </p:txBody>
      </p:sp>
      <p:sp>
        <p:nvSpPr>
          <p:cNvPr id="55" name="Google Shape;55;g3f97733b1af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97733b1af_2_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f97733b1af_2_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Setup. foo.h is textually included by three modules, so it is baked into all three PCMs. Nothing is wrong yet, it is just stored three times, and the three copies are identical.</a:t>
            </a:r>
            <a:endParaRPr/>
          </a:p>
        </p:txBody>
      </p:sp>
      <p:sp>
        <p:nvSpPr>
          <p:cNvPr id="76" name="Google Shape;76;g3f97733b1af_2_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97733b1af_2_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f97733b1af_2_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cost. Each copy claims its own slice of a finite, shared address space. Here foo.h is claimed three times. On a big modules build this is a real contributor to running out of source locations.</a:t>
            </a:r>
            <a:endParaRPr/>
          </a:p>
        </p:txBody>
      </p:sp>
      <p:sp>
        <p:nvSpPr>
          <p:cNvPr id="102" name="Google Shape;102;g3f97733b1af_2_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97733b1af_2_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f97733b1af_2_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payoff, shown directly. A loads first and its foo.h is the copy we keep. B and C match it, so nothing new is allocated and their references remap into A's range. Correctness is untouched: same file means same line and column.</a:t>
            </a:r>
            <a:endParaRPr/>
          </a:p>
        </p:txBody>
      </p:sp>
      <p:sp>
        <p:nvSpPr>
          <p:cNvPr id="126" name="Google Shape;126;g3f97733b1af_2_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7733b1af_2_1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f97733b1af_2_1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Design choice. We first thought to key identity on the file-entry reference, but that pulls the file back through the file manager and costs syscalls at load. Instead we identify a file by name plus size, read from metadata already in the PCM, so loading touches nothing on disk. Same name and size means same file; size stops two different versions from merging.</a:t>
            </a:r>
            <a:endParaRPr/>
          </a:p>
        </p:txBody>
      </p:sp>
      <p:sp>
        <p:nvSpPr>
          <p:cNvPr id="153" name="Google Shape;153;g3f97733b1af_2_1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97733b1af_2_1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f97733b1af_2_1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Overview of the load path. Scan the entries, classify which duplicate an already-loaded file, reserve a smaller range accordingly, then build the map that turns this module's local locations into global ones. The last step is where old and new differ.</a:t>
            </a:r>
            <a:endParaRPr/>
          </a:p>
        </p:txBody>
      </p:sp>
      <p:sp>
        <p:nvSpPr>
          <p:cNvPr id="191" name="Google Shape;191;g3f97733b1af_2_1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97733b1af_2_18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f97733b1af_2_18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Steps one and two. Walk B's entries, attach each one's identity, and look it up among files loaded by earlier modules. foo.h is already loaded from A, so it is flagged. We also add up the bytes those duplicates would have used. This is bookkeeping only; no space is committed here.</a:t>
            </a:r>
            <a:endParaRPr/>
          </a:p>
        </p:txBody>
      </p:sp>
      <p:sp>
        <p:nvSpPr>
          <p:cNvPr id="221" name="Google Shape;221;g3f97733b1af_2_18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97733b1af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f97733b1af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Step three. Since the scan already told us how many entries and bytes are duplicates, the module reserves the reduced size instead of the full size. That reclaimed space stays available for everything else.</a:t>
            </a:r>
            <a:endParaRPr/>
          </a:p>
        </p:txBody>
      </p:sp>
      <p:sp>
        <p:nvSpPr>
          <p:cNvPr id="253" name="Google Shape;253;g3f97733b1af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97733b1af_2_2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f97733b1af_2_2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Step four, the old world. Every entry in a module was contiguous, so turning local into global was one addition of the module's base offset. The whole block shifts together.</a:t>
            </a:r>
            <a:endParaRPr/>
          </a:p>
        </p:txBody>
      </p:sp>
      <p:sp>
        <p:nvSpPr>
          <p:cNvPr id="274" name="Google Shape;274;g3f97733b1af_2_2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97733b1af_2_26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f97733b1af_2_26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Trace one location the old way. A diagnostic points into foo.h at local offset 65. Add the base offset, 200, and you get 265 - a slot inside B's own duplicated copy of foo.h. Remember the number 265.</a:t>
            </a:r>
            <a:endParaRPr/>
          </a:p>
        </p:txBody>
      </p:sp>
      <p:sp>
        <p:nvSpPr>
          <p:cNvPr id="304" name="Google Shape;304;g3f97733b1af_2_26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97733b1af_2_2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f97733b1af_2_2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Step four, now. Because foo.h is reused, it is not stored in B's block - it leaves a hole, and one flat shift can no longer describe the mapping. So each module keeps a small sorted table of segments. Kept files shift into their own block, the reused file redirects into A's copy. To translate a location you binary-search for the segment that covers it.</a:t>
            </a:r>
            <a:endParaRPr/>
          </a:p>
        </p:txBody>
      </p:sp>
      <p:sp>
        <p:nvSpPr>
          <p:cNvPr id="334" name="Google Shape;334;g3f97733b1af_2_2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f97733b1af_2_3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f97733b1af_2_3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Same location, now. local 65 falls in segment [40,90), whose delta is +60, so it maps to 125 - straight into A's shared copy of foo.h, same line and column. Old gave 265 in a private copy; new gives 125 in the shared one. And when there are no duplicates the table collapses to one segment identical to the old shift, so the fast path is untouched.</a:t>
            </a:r>
            <a:endParaRPr/>
          </a:p>
        </p:txBody>
      </p:sp>
      <p:sp>
        <p:nvSpPr>
          <p:cNvPr id="364" name="Google Shape;364;g3f97733b1af_2_3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97733b1af_2_3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f97733b1af_2_3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Results on Boost with a per-library module map. The combined main TU drops loaded SLoc space by 40 percent, from 47.5 to 28.4 megabytes. Beast and system drop too; config, which shares nothing, is flat at zero, exactly as expected. Compile time and peak memory are essentially unchanged and we add no filesystem calls.</a:t>
            </a:r>
            <a:endParaRPr/>
          </a:p>
        </p:txBody>
      </p:sp>
      <p:sp>
        <p:nvSpPr>
          <p:cNvPr id="395" name="Google Shape;395;g3f97733b1af_2_3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97733b1af_2_37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f97733b1af_2_37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How far this goes. A file pulled into n modules gives back n-1 over n of its footprint: two modules is half, ten is ninety percent, approaching a hundred as more modules share it. So 40 percent is not special - it is just this module set. A workload that shares more headers shows a bigger number on the same code.</a:t>
            </a:r>
            <a:endParaRPr/>
          </a:p>
        </p:txBody>
      </p:sp>
      <p:sp>
        <p:nvSpPr>
          <p:cNvPr id="419" name="Google Shape;419;g3f97733b1af_2_37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97733b1af_2_39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f97733b1af_2_39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Status, kept short. The patch is posted and under review. The interesting part now is real-world testing: getting it onto codebases that actually lean on modules, which is where the flow really gets exercised. Open modules-heavy codebases are hard to find, so the real validation is people taking the patch and running it. The result I would most like to show is a build that was hitting source-location exhaustion and, with this, no longer does.</a:t>
            </a:r>
            <a:endParaRPr/>
          </a:p>
        </p:txBody>
      </p:sp>
      <p:sp>
        <p:nvSpPr>
          <p:cNvPr id="442" name="Google Shape;442;g3f97733b1af_2_39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15"/>
          <p:cNvSpPr/>
          <p:nvPr/>
        </p:nvSpPr>
        <p:spPr>
          <a:xfrm>
            <a:off x="425196" y="1062990"/>
            <a:ext cx="8291322"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3200"/>
              <a:buFont typeface="Cambria"/>
              <a:buNone/>
            </a:pPr>
            <a:r>
              <a:rPr b="1" i="0" lang="en" sz="3200" u="none" cap="none" strike="noStrike">
                <a:solidFill>
                  <a:srgbClr val="1C2233"/>
                </a:solidFill>
                <a:latin typeface="Cambria"/>
                <a:ea typeface="Cambria"/>
                <a:cs typeface="Cambria"/>
                <a:sym typeface="Cambria"/>
              </a:rPr>
              <a:t>Deduplicating Source Locations</a:t>
            </a:r>
            <a:endParaRPr b="0" i="0" sz="3200" u="none" cap="none" strike="noStrike">
              <a:solidFill>
                <a:schemeClr val="dk1"/>
              </a:solidFill>
              <a:latin typeface="Calibri"/>
              <a:ea typeface="Calibri"/>
              <a:cs typeface="Calibri"/>
              <a:sym typeface="Calibri"/>
            </a:endParaRPr>
          </a:p>
        </p:txBody>
      </p:sp>
      <p:sp>
        <p:nvSpPr>
          <p:cNvPr id="58" name="Google Shape;58;p15"/>
          <p:cNvSpPr/>
          <p:nvPr/>
        </p:nvSpPr>
        <p:spPr>
          <a:xfrm>
            <a:off x="425196" y="1645920"/>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3200"/>
              <a:buFont typeface="Cambria"/>
              <a:buNone/>
            </a:pPr>
            <a:r>
              <a:rPr b="1" i="0" lang="en" sz="3200" u="none" cap="none" strike="noStrike">
                <a:solidFill>
                  <a:srgbClr val="0E8F8F"/>
                </a:solidFill>
                <a:latin typeface="Cambria"/>
                <a:ea typeface="Cambria"/>
                <a:cs typeface="Cambria"/>
                <a:sym typeface="Cambria"/>
              </a:rPr>
              <a:t>Across Loaded Modules</a:t>
            </a:r>
            <a:endParaRPr b="0" i="0" sz="3200" u="none" cap="none" strike="noStrike">
              <a:solidFill>
                <a:schemeClr val="dk1"/>
              </a:solidFill>
              <a:latin typeface="Calibri"/>
              <a:ea typeface="Calibri"/>
              <a:cs typeface="Calibri"/>
              <a:sym typeface="Calibri"/>
            </a:endParaRPr>
          </a:p>
        </p:txBody>
      </p:sp>
      <p:sp>
        <p:nvSpPr>
          <p:cNvPr id="59" name="Google Shape;59;p15"/>
          <p:cNvSpPr/>
          <p:nvPr/>
        </p:nvSpPr>
        <p:spPr>
          <a:xfrm>
            <a:off x="425196" y="2297430"/>
            <a:ext cx="75438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E6675"/>
              </a:buClr>
              <a:buSzPts val="1200"/>
              <a:buFont typeface="Calibri"/>
              <a:buNone/>
            </a:pPr>
            <a:r>
              <a:rPr b="0" i="0" lang="en" sz="1200" u="none" cap="none" strike="noStrike">
                <a:solidFill>
                  <a:srgbClr val="5E6675"/>
                </a:solidFill>
                <a:latin typeface="Calibri"/>
                <a:ea typeface="Calibri"/>
                <a:cs typeface="Calibri"/>
                <a:sym typeface="Calibri"/>
              </a:rPr>
              <a:t>Cutting loaded SourceLocation pressure in Clang </a:t>
            </a:r>
            <a:endParaRPr b="0" i="0" sz="1200" u="none" cap="none" strike="noStrike">
              <a:solidFill>
                <a:schemeClr val="dk1"/>
              </a:solidFill>
              <a:latin typeface="Calibri"/>
              <a:ea typeface="Calibri"/>
              <a:cs typeface="Calibri"/>
              <a:sym typeface="Calibri"/>
            </a:endParaRPr>
          </a:p>
        </p:txBody>
      </p:sp>
      <p:sp>
        <p:nvSpPr>
          <p:cNvPr id="60" name="Google Shape;60;p15"/>
          <p:cNvSpPr/>
          <p:nvPr/>
        </p:nvSpPr>
        <p:spPr>
          <a:xfrm>
            <a:off x="425196" y="3531870"/>
            <a:ext cx="72009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5"/>
          <p:cNvSpPr/>
          <p:nvPr/>
        </p:nvSpPr>
        <p:spPr>
          <a:xfrm>
            <a:off x="425196" y="3531870"/>
            <a:ext cx="72009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foo.h</a:t>
            </a:r>
            <a:endParaRPr b="0" i="0" sz="900" u="none" cap="none" strike="noStrike">
              <a:solidFill>
                <a:schemeClr val="dk1"/>
              </a:solidFill>
              <a:latin typeface="Calibri"/>
              <a:ea typeface="Calibri"/>
              <a:cs typeface="Calibri"/>
              <a:sym typeface="Calibri"/>
            </a:endParaRPr>
          </a:p>
        </p:txBody>
      </p:sp>
      <p:sp>
        <p:nvSpPr>
          <p:cNvPr id="62" name="Google Shape;62;p15"/>
          <p:cNvSpPr/>
          <p:nvPr/>
        </p:nvSpPr>
        <p:spPr>
          <a:xfrm>
            <a:off x="1316736" y="3531870"/>
            <a:ext cx="72009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5"/>
          <p:cNvSpPr/>
          <p:nvPr/>
        </p:nvSpPr>
        <p:spPr>
          <a:xfrm>
            <a:off x="1316736" y="3531870"/>
            <a:ext cx="72009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foo.h</a:t>
            </a:r>
            <a:endParaRPr b="0" i="0" sz="900" u="none" cap="none" strike="noStrike">
              <a:solidFill>
                <a:schemeClr val="dk1"/>
              </a:solidFill>
              <a:latin typeface="Calibri"/>
              <a:ea typeface="Calibri"/>
              <a:cs typeface="Calibri"/>
              <a:sym typeface="Calibri"/>
            </a:endParaRPr>
          </a:p>
        </p:txBody>
      </p:sp>
      <p:sp>
        <p:nvSpPr>
          <p:cNvPr id="64" name="Google Shape;64;p15"/>
          <p:cNvSpPr/>
          <p:nvPr/>
        </p:nvSpPr>
        <p:spPr>
          <a:xfrm>
            <a:off x="2208276" y="3531870"/>
            <a:ext cx="72009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 name="Google Shape;65;p15"/>
          <p:cNvSpPr/>
          <p:nvPr/>
        </p:nvSpPr>
        <p:spPr>
          <a:xfrm>
            <a:off x="2208276" y="3531870"/>
            <a:ext cx="72009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foo.h</a:t>
            </a:r>
            <a:endParaRPr b="0" i="0" sz="900" u="none" cap="none" strike="noStrike">
              <a:solidFill>
                <a:schemeClr val="dk1"/>
              </a:solidFill>
              <a:latin typeface="Calibri"/>
              <a:ea typeface="Calibri"/>
              <a:cs typeface="Calibri"/>
              <a:sym typeface="Calibri"/>
            </a:endParaRPr>
          </a:p>
        </p:txBody>
      </p:sp>
      <p:cxnSp>
        <p:nvCxnSpPr>
          <p:cNvPr id="66" name="Google Shape;66;p15"/>
          <p:cNvCxnSpPr/>
          <p:nvPr/>
        </p:nvCxnSpPr>
        <p:spPr>
          <a:xfrm>
            <a:off x="2996946" y="3703320"/>
            <a:ext cx="582930" cy="0"/>
          </a:xfrm>
          <a:prstGeom prst="straightConnector1">
            <a:avLst/>
          </a:prstGeom>
          <a:noFill/>
          <a:ln cap="flat" cmpd="sng" w="25400">
            <a:solidFill>
              <a:srgbClr val="9AA3B2"/>
            </a:solidFill>
            <a:prstDash val="solid"/>
            <a:round/>
            <a:headEnd len="sm" w="sm" type="none"/>
            <a:tailEnd len="med" w="med" type="triangle"/>
          </a:ln>
        </p:spPr>
      </p:cxnSp>
      <p:sp>
        <p:nvSpPr>
          <p:cNvPr id="67" name="Google Shape;67;p15"/>
          <p:cNvSpPr/>
          <p:nvPr/>
        </p:nvSpPr>
        <p:spPr>
          <a:xfrm>
            <a:off x="3682746" y="3531870"/>
            <a:ext cx="72009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5"/>
          <p:cNvSpPr/>
          <p:nvPr/>
        </p:nvSpPr>
        <p:spPr>
          <a:xfrm>
            <a:off x="3682746" y="3531870"/>
            <a:ext cx="72009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foo.h</a:t>
            </a:r>
            <a:endParaRPr b="0" i="0" sz="900" u="none" cap="none" strike="noStrike">
              <a:solidFill>
                <a:schemeClr val="dk1"/>
              </a:solidFill>
              <a:latin typeface="Calibri"/>
              <a:ea typeface="Calibri"/>
              <a:cs typeface="Calibri"/>
              <a:sym typeface="Calibri"/>
            </a:endParaRPr>
          </a:p>
        </p:txBody>
      </p:sp>
      <p:sp>
        <p:nvSpPr>
          <p:cNvPr id="69" name="Google Shape;69;p15"/>
          <p:cNvSpPr/>
          <p:nvPr/>
        </p:nvSpPr>
        <p:spPr>
          <a:xfrm>
            <a:off x="425196" y="3957066"/>
            <a:ext cx="253746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AA3B2"/>
              </a:buClr>
              <a:buSzPts val="800"/>
              <a:buFont typeface="Calibri"/>
              <a:buNone/>
            </a:pPr>
            <a:r>
              <a:rPr b="0" i="1" lang="en" sz="800" u="none" cap="none" strike="noStrike">
                <a:solidFill>
                  <a:srgbClr val="9AA3B2"/>
                </a:solidFill>
                <a:latin typeface="Calibri"/>
                <a:ea typeface="Calibri"/>
                <a:cs typeface="Calibri"/>
                <a:sym typeface="Calibri"/>
              </a:rPr>
              <a:t>3 copies</a:t>
            </a:r>
            <a:endParaRPr b="0" i="0" sz="800" u="none" cap="none" strike="noStrike">
              <a:solidFill>
                <a:schemeClr val="dk1"/>
              </a:solidFill>
              <a:latin typeface="Calibri"/>
              <a:ea typeface="Calibri"/>
              <a:cs typeface="Calibri"/>
              <a:sym typeface="Calibri"/>
            </a:endParaRPr>
          </a:p>
        </p:txBody>
      </p:sp>
      <p:sp>
        <p:nvSpPr>
          <p:cNvPr id="70" name="Google Shape;70;p15"/>
          <p:cNvSpPr/>
          <p:nvPr/>
        </p:nvSpPr>
        <p:spPr>
          <a:xfrm>
            <a:off x="3682746" y="3957066"/>
            <a:ext cx="72009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8F8F"/>
              </a:buClr>
              <a:buSzPts val="800"/>
              <a:buFont typeface="Calibri"/>
              <a:buNone/>
            </a:pPr>
            <a:r>
              <a:rPr b="0" i="1" lang="en" sz="800" u="none" cap="none" strike="noStrike">
                <a:solidFill>
                  <a:srgbClr val="0E8F8F"/>
                </a:solidFill>
                <a:latin typeface="Calibri"/>
                <a:ea typeface="Calibri"/>
                <a:cs typeface="Calibri"/>
                <a:sym typeface="Calibri"/>
              </a:rPr>
              <a:t>1 copy</a:t>
            </a:r>
            <a:endParaRPr b="0" i="0" sz="800" u="none" cap="none" strike="noStrike">
              <a:solidFill>
                <a:schemeClr val="dk1"/>
              </a:solidFill>
              <a:latin typeface="Calibri"/>
              <a:ea typeface="Calibri"/>
              <a:cs typeface="Calibri"/>
              <a:sym typeface="Calibri"/>
            </a:endParaRPr>
          </a:p>
        </p:txBody>
      </p:sp>
      <p:sp>
        <p:nvSpPr>
          <p:cNvPr id="71" name="Google Shape;71;p15"/>
          <p:cNvSpPr/>
          <p:nvPr/>
        </p:nvSpPr>
        <p:spPr>
          <a:xfrm>
            <a:off x="5966460" y="3463290"/>
            <a:ext cx="2743200" cy="89154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Clr>
                <a:srgbClr val="1C2233"/>
              </a:buClr>
              <a:buSzPts val="1100"/>
              <a:buFont typeface="Calibri"/>
              <a:buNone/>
            </a:pPr>
            <a:r>
              <a:rPr b="1" i="0" lang="en" sz="1100" u="none" cap="none" strike="noStrike">
                <a:solidFill>
                  <a:srgbClr val="1C2233"/>
                </a:solidFill>
                <a:latin typeface="Calibri"/>
                <a:ea typeface="Calibri"/>
                <a:cs typeface="Calibri"/>
                <a:sym typeface="Calibri"/>
              </a:rPr>
              <a:t>Ayokunle Amodu</a:t>
            </a:r>
            <a:endParaRPr b="0" i="0" sz="11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5E6675"/>
              </a:buClr>
              <a:buSzPts val="1000"/>
              <a:buFont typeface="Calibri"/>
              <a:buNone/>
            </a:pPr>
            <a:r>
              <a:rPr lang="en" sz="1000">
                <a:solidFill>
                  <a:srgbClr val="5E6675"/>
                </a:solidFill>
                <a:latin typeface="Calibri"/>
                <a:ea typeface="Calibri"/>
                <a:cs typeface="Calibri"/>
                <a:sym typeface="Calibri"/>
              </a:rPr>
              <a:t>The </a:t>
            </a:r>
            <a:r>
              <a:rPr b="0" i="0" lang="en" sz="1000" u="none" cap="none" strike="noStrike">
                <a:solidFill>
                  <a:srgbClr val="5E6675"/>
                </a:solidFill>
                <a:latin typeface="Calibri"/>
                <a:ea typeface="Calibri"/>
                <a:cs typeface="Calibri"/>
                <a:sym typeface="Calibri"/>
              </a:rPr>
              <a:t>C++ Alliance </a:t>
            </a:r>
            <a:r>
              <a:rPr lang="en" sz="1000">
                <a:solidFill>
                  <a:srgbClr val="5E6675"/>
                </a:solidFill>
                <a:latin typeface="Calibri"/>
                <a:ea typeface="Calibri"/>
                <a:cs typeface="Calibri"/>
                <a:sym typeface="Calibri"/>
              </a:rPr>
              <a:t>/ </a:t>
            </a:r>
            <a:r>
              <a:rPr b="0" i="0" lang="en" sz="1000" u="none" cap="none" strike="noStrike">
                <a:solidFill>
                  <a:srgbClr val="5E6675"/>
                </a:solidFill>
                <a:latin typeface="Calibri"/>
                <a:ea typeface="Calibri"/>
                <a:cs typeface="Calibri"/>
                <a:sym typeface="Calibri"/>
              </a:rPr>
              <a:t>Compiler Research Group</a:t>
            </a:r>
            <a:endParaRPr b="0" i="0" sz="11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Mentor: Vas</a:t>
            </a:r>
            <a:r>
              <a:rPr lang="en" sz="1000">
                <a:solidFill>
                  <a:srgbClr val="5E6675"/>
                </a:solidFill>
                <a:latin typeface="Calibri"/>
                <a:ea typeface="Calibri"/>
                <a:cs typeface="Calibri"/>
                <a:sym typeface="Calibri"/>
              </a:rPr>
              <a:t>s</a:t>
            </a:r>
            <a:r>
              <a:rPr b="0" i="0" lang="en" sz="1000" u="none" cap="none" strike="noStrike">
                <a:solidFill>
                  <a:srgbClr val="5E6675"/>
                </a:solidFill>
                <a:latin typeface="Calibri"/>
                <a:ea typeface="Calibri"/>
                <a:cs typeface="Calibri"/>
                <a:sym typeface="Calibri"/>
              </a:rPr>
              <a:t>il Vassilev</a:t>
            </a:r>
            <a:endParaRPr b="0" i="0" sz="1100" u="none" cap="none" strike="noStrike">
              <a:solidFill>
                <a:schemeClr val="dk1"/>
              </a:solidFill>
              <a:latin typeface="Calibri"/>
              <a:ea typeface="Calibri"/>
              <a:cs typeface="Calibri"/>
              <a:sym typeface="Calibri"/>
            </a:endParaRPr>
          </a:p>
        </p:txBody>
      </p:sp>
      <p:sp>
        <p:nvSpPr>
          <p:cNvPr id="72" name="Google Shape;72;p15"/>
          <p:cNvSpPr/>
          <p:nvPr/>
        </p:nvSpPr>
        <p:spPr>
          <a:xfrm>
            <a:off x="5966460" y="4423410"/>
            <a:ext cx="27432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0E8F8F"/>
              </a:buClr>
              <a:buSzPts val="800"/>
              <a:buFont typeface="Calibri"/>
              <a:buNone/>
            </a:pPr>
            <a:r>
              <a:rPr b="1" i="0" lang="en" sz="800" u="none" cap="none" strike="noStrike">
                <a:solidFill>
                  <a:srgbClr val="0E8F8F"/>
                </a:solidFill>
                <a:latin typeface="Calibri"/>
                <a:ea typeface="Calibri"/>
                <a:cs typeface="Calibri"/>
                <a:sym typeface="Calibri"/>
              </a:rPr>
              <a:t>MIDTERM </a:t>
            </a:r>
            <a:r>
              <a:rPr b="1" lang="en" sz="800">
                <a:solidFill>
                  <a:srgbClr val="0E8F8F"/>
                </a:solidFill>
                <a:latin typeface="Calibri"/>
                <a:ea typeface="Calibri"/>
                <a:cs typeface="Calibri"/>
                <a:sym typeface="Calibri"/>
              </a:rPr>
              <a:t> CHECKPOINT</a:t>
            </a:r>
            <a:endParaRPr b="1" sz="800">
              <a:solidFill>
                <a:srgbClr val="0E8F8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16"/>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THE PROBLEM</a:t>
            </a:r>
            <a:endParaRPr b="0" i="0" sz="900" u="none" cap="none" strike="noStrike">
              <a:solidFill>
                <a:schemeClr val="dk1"/>
              </a:solidFill>
              <a:latin typeface="Calibri"/>
              <a:ea typeface="Calibri"/>
              <a:cs typeface="Calibri"/>
              <a:sym typeface="Calibri"/>
            </a:endParaRPr>
          </a:p>
        </p:txBody>
      </p:sp>
      <p:sp>
        <p:nvSpPr>
          <p:cNvPr id="79" name="Google Shape;79;p16"/>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One header, many modules</a:t>
            </a:r>
            <a:endParaRPr b="0" i="0" sz="2400" u="none" cap="none" strike="noStrike">
              <a:solidFill>
                <a:schemeClr val="dk1"/>
              </a:solidFill>
              <a:latin typeface="Calibri"/>
              <a:ea typeface="Calibri"/>
              <a:cs typeface="Calibri"/>
              <a:sym typeface="Calibri"/>
            </a:endParaRPr>
          </a:p>
        </p:txBody>
      </p:sp>
      <p:sp>
        <p:nvSpPr>
          <p:cNvPr id="80" name="Google Shape;80;p16"/>
          <p:cNvSpPr/>
          <p:nvPr/>
        </p:nvSpPr>
        <p:spPr>
          <a:xfrm>
            <a:off x="4217670" y="1268730"/>
            <a:ext cx="754380" cy="377190"/>
          </a:xfrm>
          <a:prstGeom prst="roundRect">
            <a:avLst>
              <a:gd fmla="val 1454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6"/>
          <p:cNvSpPr/>
          <p:nvPr/>
        </p:nvSpPr>
        <p:spPr>
          <a:xfrm>
            <a:off x="4217670" y="1268730"/>
            <a:ext cx="75438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100"/>
              <a:buFont typeface="Courier New"/>
              <a:buNone/>
            </a:pPr>
            <a:r>
              <a:rPr b="1" i="0" lang="en" sz="1100" u="none" cap="none" strike="noStrike">
                <a:solidFill>
                  <a:srgbClr val="0E8F8F"/>
                </a:solidFill>
                <a:latin typeface="Courier New"/>
                <a:ea typeface="Courier New"/>
                <a:cs typeface="Courier New"/>
                <a:sym typeface="Courier New"/>
              </a:rPr>
              <a:t>foo.h</a:t>
            </a:r>
            <a:endParaRPr b="0" i="0" sz="1100" u="none" cap="none" strike="noStrike">
              <a:solidFill>
                <a:schemeClr val="dk1"/>
              </a:solidFill>
              <a:latin typeface="Calibri"/>
              <a:ea typeface="Calibri"/>
              <a:cs typeface="Calibri"/>
              <a:sym typeface="Calibri"/>
            </a:endParaRPr>
          </a:p>
        </p:txBody>
      </p:sp>
      <p:sp>
        <p:nvSpPr>
          <p:cNvPr id="82" name="Google Shape;82;p16"/>
          <p:cNvSpPr/>
          <p:nvPr/>
        </p:nvSpPr>
        <p:spPr>
          <a:xfrm>
            <a:off x="3313085" y="1347596"/>
            <a:ext cx="822900" cy="219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#include</a:t>
            </a:r>
            <a:endParaRPr b="0" i="0" sz="900" u="none" cap="none" strike="noStrike">
              <a:solidFill>
                <a:schemeClr val="dk1"/>
              </a:solidFill>
              <a:latin typeface="Calibri"/>
              <a:ea typeface="Calibri"/>
              <a:cs typeface="Calibri"/>
              <a:sym typeface="Calibri"/>
            </a:endParaRPr>
          </a:p>
        </p:txBody>
      </p:sp>
      <p:sp>
        <p:nvSpPr>
          <p:cNvPr id="83" name="Google Shape;83;p16"/>
          <p:cNvSpPr/>
          <p:nvPr/>
        </p:nvSpPr>
        <p:spPr>
          <a:xfrm>
            <a:off x="1474470" y="3120390"/>
            <a:ext cx="1543050" cy="1062990"/>
          </a:xfrm>
          <a:prstGeom prst="roundRect">
            <a:avLst>
              <a:gd fmla="val 5806"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6"/>
          <p:cNvSpPr/>
          <p:nvPr/>
        </p:nvSpPr>
        <p:spPr>
          <a:xfrm>
            <a:off x="1474470" y="3202686"/>
            <a:ext cx="1543050" cy="2400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i="0" lang="en" sz="1100" u="none" cap="none" strike="noStrike">
                <a:solidFill>
                  <a:srgbClr val="3A4A63"/>
                </a:solidFill>
                <a:latin typeface="Courier New"/>
                <a:ea typeface="Courier New"/>
                <a:cs typeface="Courier New"/>
                <a:sym typeface="Courier New"/>
              </a:rPr>
              <a:t>A.pcm</a:t>
            </a:r>
            <a:endParaRPr b="0" i="0" sz="1100" u="none" cap="none" strike="noStrike">
              <a:solidFill>
                <a:schemeClr val="dk1"/>
              </a:solidFill>
              <a:latin typeface="Calibri"/>
              <a:ea typeface="Calibri"/>
              <a:cs typeface="Calibri"/>
              <a:sym typeface="Calibri"/>
            </a:endParaRPr>
          </a:p>
        </p:txBody>
      </p:sp>
      <p:sp>
        <p:nvSpPr>
          <p:cNvPr id="85" name="Google Shape;85;p16"/>
          <p:cNvSpPr/>
          <p:nvPr/>
        </p:nvSpPr>
        <p:spPr>
          <a:xfrm>
            <a:off x="1851660" y="3545586"/>
            <a:ext cx="788670" cy="377190"/>
          </a:xfrm>
          <a:prstGeom prst="roundRect">
            <a:avLst>
              <a:gd fmla="val 1454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6"/>
          <p:cNvSpPr/>
          <p:nvPr/>
        </p:nvSpPr>
        <p:spPr>
          <a:xfrm>
            <a:off x="1851660" y="3545586"/>
            <a:ext cx="78867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87" name="Google Shape;87;p16"/>
          <p:cNvSpPr/>
          <p:nvPr/>
        </p:nvSpPr>
        <p:spPr>
          <a:xfrm>
            <a:off x="3943350" y="3120390"/>
            <a:ext cx="1543050" cy="1062990"/>
          </a:xfrm>
          <a:prstGeom prst="roundRect">
            <a:avLst>
              <a:gd fmla="val 5806"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6"/>
          <p:cNvSpPr/>
          <p:nvPr/>
        </p:nvSpPr>
        <p:spPr>
          <a:xfrm>
            <a:off x="3943350" y="3202686"/>
            <a:ext cx="1543050" cy="2400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i="0" lang="en" sz="1100" u="none" cap="none" strike="noStrike">
                <a:solidFill>
                  <a:srgbClr val="3A4A63"/>
                </a:solidFill>
                <a:latin typeface="Courier New"/>
                <a:ea typeface="Courier New"/>
                <a:cs typeface="Courier New"/>
                <a:sym typeface="Courier New"/>
              </a:rPr>
              <a:t>B.pcm</a:t>
            </a:r>
            <a:endParaRPr b="0" i="0" sz="1100" u="none" cap="none" strike="noStrike">
              <a:solidFill>
                <a:schemeClr val="dk1"/>
              </a:solidFill>
              <a:latin typeface="Calibri"/>
              <a:ea typeface="Calibri"/>
              <a:cs typeface="Calibri"/>
              <a:sym typeface="Calibri"/>
            </a:endParaRPr>
          </a:p>
        </p:txBody>
      </p:sp>
      <p:sp>
        <p:nvSpPr>
          <p:cNvPr id="89" name="Google Shape;89;p16"/>
          <p:cNvSpPr/>
          <p:nvPr/>
        </p:nvSpPr>
        <p:spPr>
          <a:xfrm>
            <a:off x="4320540" y="3545586"/>
            <a:ext cx="788670" cy="377190"/>
          </a:xfrm>
          <a:prstGeom prst="roundRect">
            <a:avLst>
              <a:gd fmla="val 1454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6"/>
          <p:cNvSpPr/>
          <p:nvPr/>
        </p:nvSpPr>
        <p:spPr>
          <a:xfrm>
            <a:off x="4320540" y="3545586"/>
            <a:ext cx="78867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91" name="Google Shape;91;p16"/>
          <p:cNvSpPr/>
          <p:nvPr/>
        </p:nvSpPr>
        <p:spPr>
          <a:xfrm>
            <a:off x="6412230" y="3120390"/>
            <a:ext cx="1543050" cy="1062990"/>
          </a:xfrm>
          <a:prstGeom prst="roundRect">
            <a:avLst>
              <a:gd fmla="val 5806"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6"/>
          <p:cNvSpPr/>
          <p:nvPr/>
        </p:nvSpPr>
        <p:spPr>
          <a:xfrm>
            <a:off x="6412230" y="3202686"/>
            <a:ext cx="1543050" cy="2400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i="0" lang="en" sz="1100" u="none" cap="none" strike="noStrike">
                <a:solidFill>
                  <a:srgbClr val="3A4A63"/>
                </a:solidFill>
                <a:latin typeface="Courier New"/>
                <a:ea typeface="Courier New"/>
                <a:cs typeface="Courier New"/>
                <a:sym typeface="Courier New"/>
              </a:rPr>
              <a:t>C.pcm</a:t>
            </a:r>
            <a:endParaRPr b="0" i="0" sz="1100" u="none" cap="none" strike="noStrike">
              <a:solidFill>
                <a:schemeClr val="dk1"/>
              </a:solidFill>
              <a:latin typeface="Calibri"/>
              <a:ea typeface="Calibri"/>
              <a:cs typeface="Calibri"/>
              <a:sym typeface="Calibri"/>
            </a:endParaRPr>
          </a:p>
        </p:txBody>
      </p:sp>
      <p:sp>
        <p:nvSpPr>
          <p:cNvPr id="93" name="Google Shape;93;p16"/>
          <p:cNvSpPr/>
          <p:nvPr/>
        </p:nvSpPr>
        <p:spPr>
          <a:xfrm>
            <a:off x="6789420" y="3545586"/>
            <a:ext cx="788670" cy="377190"/>
          </a:xfrm>
          <a:prstGeom prst="roundRect">
            <a:avLst>
              <a:gd fmla="val 1454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6"/>
          <p:cNvSpPr/>
          <p:nvPr/>
        </p:nvSpPr>
        <p:spPr>
          <a:xfrm>
            <a:off x="6789420" y="3545586"/>
            <a:ext cx="78867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cxnSp>
        <p:nvCxnSpPr>
          <p:cNvPr id="95" name="Google Shape;95;p16"/>
          <p:cNvCxnSpPr>
            <a:endCxn id="83" idx="0"/>
          </p:cNvCxnSpPr>
          <p:nvPr/>
        </p:nvCxnSpPr>
        <p:spPr>
          <a:xfrm flipH="1">
            <a:off x="2245995" y="1677390"/>
            <a:ext cx="2148600" cy="1443000"/>
          </a:xfrm>
          <a:prstGeom prst="straightConnector1">
            <a:avLst/>
          </a:prstGeom>
          <a:noFill/>
          <a:ln cap="flat" cmpd="sng" w="22225">
            <a:solidFill>
              <a:srgbClr val="9AA3B2"/>
            </a:solidFill>
            <a:prstDash val="solid"/>
            <a:round/>
            <a:headEnd len="sm" w="sm" type="none"/>
            <a:tailEnd len="med" w="med" type="triangle"/>
          </a:ln>
        </p:spPr>
      </p:cxnSp>
      <p:cxnSp>
        <p:nvCxnSpPr>
          <p:cNvPr id="96" name="Google Shape;96;p16"/>
          <p:cNvCxnSpPr/>
          <p:nvPr/>
        </p:nvCxnSpPr>
        <p:spPr>
          <a:xfrm>
            <a:off x="4594860" y="1680210"/>
            <a:ext cx="0" cy="1440180"/>
          </a:xfrm>
          <a:prstGeom prst="straightConnector1">
            <a:avLst/>
          </a:prstGeom>
          <a:noFill/>
          <a:ln cap="flat" cmpd="sng" w="22225">
            <a:solidFill>
              <a:srgbClr val="9AA3B2"/>
            </a:solidFill>
            <a:prstDash val="solid"/>
            <a:round/>
            <a:headEnd len="sm" w="sm" type="none"/>
            <a:tailEnd len="med" w="med" type="triangle"/>
          </a:ln>
        </p:spPr>
      </p:cxnSp>
      <p:cxnSp>
        <p:nvCxnSpPr>
          <p:cNvPr id="97" name="Google Shape;97;p16"/>
          <p:cNvCxnSpPr/>
          <p:nvPr/>
        </p:nvCxnSpPr>
        <p:spPr>
          <a:xfrm>
            <a:off x="4869180" y="1680210"/>
            <a:ext cx="2311146" cy="1440180"/>
          </a:xfrm>
          <a:prstGeom prst="straightConnector1">
            <a:avLst/>
          </a:prstGeom>
          <a:noFill/>
          <a:ln cap="flat" cmpd="sng" w="22225">
            <a:solidFill>
              <a:srgbClr val="9AA3B2"/>
            </a:solidFill>
            <a:prstDash val="solid"/>
            <a:round/>
            <a:headEnd len="sm" w="sm" type="none"/>
            <a:tailEnd len="med" w="med" type="triangle"/>
          </a:ln>
        </p:spPr>
      </p:cxnSp>
      <p:sp>
        <p:nvSpPr>
          <p:cNvPr id="98" name="Google Shape;98;p16"/>
          <p:cNvSpPr/>
          <p:nvPr/>
        </p:nvSpPr>
        <p:spPr>
          <a:xfrm>
            <a:off x="425196" y="4491990"/>
            <a:ext cx="8291322"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A header included by many modules is serialized into each of their PCM</a:t>
            </a:r>
            <a:r>
              <a:rPr lang="en" sz="1100">
                <a:solidFill>
                  <a:srgbClr val="5E667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7"/>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E4C3B"/>
              </a:buClr>
              <a:buSzPts val="900"/>
              <a:buFont typeface="Calibri"/>
              <a:buNone/>
            </a:pPr>
            <a:r>
              <a:rPr b="1" i="0" lang="en" sz="900" u="none" cap="none" strike="noStrike">
                <a:solidFill>
                  <a:srgbClr val="CE4C3B"/>
                </a:solidFill>
                <a:latin typeface="Calibri"/>
                <a:ea typeface="Calibri"/>
                <a:cs typeface="Calibri"/>
                <a:sym typeface="Calibri"/>
              </a:rPr>
              <a:t>THE PROBLEM</a:t>
            </a:r>
            <a:endParaRPr b="0" i="0" sz="900" u="none" cap="none" strike="noStrike">
              <a:solidFill>
                <a:schemeClr val="dk1"/>
              </a:solidFill>
              <a:latin typeface="Calibri"/>
              <a:ea typeface="Calibri"/>
              <a:cs typeface="Calibri"/>
              <a:sym typeface="Calibri"/>
            </a:endParaRPr>
          </a:p>
        </p:txBody>
      </p:sp>
      <p:sp>
        <p:nvSpPr>
          <p:cNvPr id="105" name="Google Shape;105;p17"/>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Every copy takes real address space</a:t>
            </a:r>
            <a:endParaRPr b="0" i="0" sz="2400" u="none" cap="none" strike="noStrike">
              <a:solidFill>
                <a:schemeClr val="dk1"/>
              </a:solidFill>
              <a:latin typeface="Calibri"/>
              <a:ea typeface="Calibri"/>
              <a:cs typeface="Calibri"/>
              <a:sym typeface="Calibri"/>
            </a:endParaRPr>
          </a:p>
        </p:txBody>
      </p:sp>
      <p:sp>
        <p:nvSpPr>
          <p:cNvPr id="106" name="Google Shape;106;p17"/>
          <p:cNvSpPr/>
          <p:nvPr/>
        </p:nvSpPr>
        <p:spPr>
          <a:xfrm>
            <a:off x="425196" y="1885950"/>
            <a:ext cx="8291322" cy="582930"/>
          </a:xfrm>
          <a:prstGeom prst="roundRect">
            <a:avLst>
              <a:gd fmla="val 5882" name="adj"/>
            </a:avLst>
          </a:prstGeom>
          <a:solidFill>
            <a:srgbClr val="EEF2F7"/>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7"/>
          <p:cNvSpPr/>
          <p:nvPr/>
        </p:nvSpPr>
        <p:spPr>
          <a:xfrm>
            <a:off x="426296" y="1169252"/>
            <a:ext cx="82914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loaded SourceLocation address space </a:t>
            </a:r>
            <a:endParaRPr b="0" i="0" sz="900" u="none" cap="none" strike="noStrike">
              <a:solidFill>
                <a:schemeClr val="dk1"/>
              </a:solidFill>
              <a:latin typeface="Calibri"/>
              <a:ea typeface="Calibri"/>
              <a:cs typeface="Calibri"/>
              <a:sym typeface="Calibri"/>
            </a:endParaRPr>
          </a:p>
        </p:txBody>
      </p:sp>
      <p:sp>
        <p:nvSpPr>
          <p:cNvPr id="108" name="Google Shape;108;p17"/>
          <p:cNvSpPr/>
          <p:nvPr/>
        </p:nvSpPr>
        <p:spPr>
          <a:xfrm>
            <a:off x="507495" y="1968250"/>
            <a:ext cx="766500" cy="418200"/>
          </a:xfrm>
          <a:prstGeom prst="roundRect">
            <a:avLst>
              <a:gd fmla="val 8197"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7"/>
          <p:cNvSpPr/>
          <p:nvPr/>
        </p:nvSpPr>
        <p:spPr>
          <a:xfrm>
            <a:off x="507495" y="1978588"/>
            <a:ext cx="766500" cy="41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100"/>
              <a:buFont typeface="Courier New"/>
              <a:buNone/>
            </a:pPr>
            <a:r>
              <a:rPr b="0" i="0" lang="en" sz="1100" u="none" cap="none" strike="noStrike">
                <a:solidFill>
                  <a:srgbClr val="0E8F8F"/>
                </a:solidFill>
                <a:latin typeface="Courier New"/>
                <a:ea typeface="Courier New"/>
                <a:cs typeface="Courier New"/>
                <a:sym typeface="Courier New"/>
              </a:rPr>
              <a:t>foo.h</a:t>
            </a:r>
            <a:endParaRPr b="0" i="0" sz="1100" u="none" cap="none" strike="noStrike">
              <a:solidFill>
                <a:schemeClr val="dk1"/>
              </a:solidFill>
              <a:latin typeface="Calibri"/>
              <a:ea typeface="Calibri"/>
              <a:cs typeface="Calibri"/>
              <a:sym typeface="Calibri"/>
            </a:endParaRPr>
          </a:p>
        </p:txBody>
      </p:sp>
      <p:sp>
        <p:nvSpPr>
          <p:cNvPr id="110" name="Google Shape;110;p17"/>
          <p:cNvSpPr/>
          <p:nvPr/>
        </p:nvSpPr>
        <p:spPr>
          <a:xfrm>
            <a:off x="2414020" y="1968250"/>
            <a:ext cx="766500" cy="418200"/>
          </a:xfrm>
          <a:prstGeom prst="roundRect">
            <a:avLst>
              <a:gd fmla="val 8197"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p17"/>
          <p:cNvSpPr/>
          <p:nvPr/>
        </p:nvSpPr>
        <p:spPr>
          <a:xfrm>
            <a:off x="2414020" y="1968250"/>
            <a:ext cx="766500" cy="41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100"/>
              <a:buFont typeface="Courier New"/>
              <a:buNone/>
            </a:pPr>
            <a:r>
              <a:rPr b="0" i="0" lang="en" sz="1100" u="none" cap="none" strike="noStrike">
                <a:solidFill>
                  <a:srgbClr val="0E8F8F"/>
                </a:solidFill>
                <a:latin typeface="Courier New"/>
                <a:ea typeface="Courier New"/>
                <a:cs typeface="Courier New"/>
                <a:sym typeface="Courier New"/>
              </a:rPr>
              <a:t>foo.h</a:t>
            </a:r>
            <a:endParaRPr b="0" i="0" sz="1100" u="none" cap="none" strike="noStrike">
              <a:solidFill>
                <a:schemeClr val="dk1"/>
              </a:solidFill>
              <a:latin typeface="Calibri"/>
              <a:ea typeface="Calibri"/>
              <a:cs typeface="Calibri"/>
              <a:sym typeface="Calibri"/>
            </a:endParaRPr>
          </a:p>
        </p:txBody>
      </p:sp>
      <p:sp>
        <p:nvSpPr>
          <p:cNvPr id="112" name="Google Shape;112;p17"/>
          <p:cNvSpPr/>
          <p:nvPr/>
        </p:nvSpPr>
        <p:spPr>
          <a:xfrm>
            <a:off x="2414020" y="2468838"/>
            <a:ext cx="7665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800"/>
              <a:buFont typeface="Calibri"/>
              <a:buNone/>
            </a:pPr>
            <a:r>
              <a:rPr b="1" i="1" lang="en" sz="800" u="none" cap="none" strike="noStrike">
                <a:solidFill>
                  <a:srgbClr val="CE4C3B"/>
                </a:solidFill>
                <a:latin typeface="Calibri"/>
                <a:ea typeface="Calibri"/>
                <a:cs typeface="Calibri"/>
                <a:sym typeface="Calibri"/>
              </a:rPr>
              <a:t>duplicate</a:t>
            </a:r>
            <a:endParaRPr b="0" i="0" sz="800" u="none" cap="none" strike="noStrike">
              <a:solidFill>
                <a:schemeClr val="dk1"/>
              </a:solidFill>
              <a:latin typeface="Calibri"/>
              <a:ea typeface="Calibri"/>
              <a:cs typeface="Calibri"/>
              <a:sym typeface="Calibri"/>
            </a:endParaRPr>
          </a:p>
        </p:txBody>
      </p:sp>
      <p:sp>
        <p:nvSpPr>
          <p:cNvPr id="113" name="Google Shape;113;p17"/>
          <p:cNvSpPr/>
          <p:nvPr/>
        </p:nvSpPr>
        <p:spPr>
          <a:xfrm>
            <a:off x="4320544" y="1968250"/>
            <a:ext cx="766500" cy="418200"/>
          </a:xfrm>
          <a:prstGeom prst="roundRect">
            <a:avLst>
              <a:gd fmla="val 8197"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7"/>
          <p:cNvSpPr/>
          <p:nvPr/>
        </p:nvSpPr>
        <p:spPr>
          <a:xfrm>
            <a:off x="4320544" y="1968250"/>
            <a:ext cx="766500" cy="41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100"/>
              <a:buFont typeface="Courier New"/>
              <a:buNone/>
            </a:pPr>
            <a:r>
              <a:rPr b="0" i="0" lang="en" sz="1100" u="none" cap="none" strike="noStrike">
                <a:solidFill>
                  <a:srgbClr val="0E8F8F"/>
                </a:solidFill>
                <a:latin typeface="Courier New"/>
                <a:ea typeface="Courier New"/>
                <a:cs typeface="Courier New"/>
                <a:sym typeface="Courier New"/>
              </a:rPr>
              <a:t>foo.h</a:t>
            </a:r>
            <a:endParaRPr b="0" i="0" sz="1100" u="none" cap="none" strike="noStrike">
              <a:solidFill>
                <a:schemeClr val="dk1"/>
              </a:solidFill>
              <a:latin typeface="Calibri"/>
              <a:ea typeface="Calibri"/>
              <a:cs typeface="Calibri"/>
              <a:sym typeface="Calibri"/>
            </a:endParaRPr>
          </a:p>
        </p:txBody>
      </p:sp>
      <p:sp>
        <p:nvSpPr>
          <p:cNvPr id="115" name="Google Shape;115;p17"/>
          <p:cNvSpPr/>
          <p:nvPr/>
        </p:nvSpPr>
        <p:spPr>
          <a:xfrm>
            <a:off x="4320544" y="2468838"/>
            <a:ext cx="7665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800"/>
              <a:buFont typeface="Calibri"/>
              <a:buNone/>
            </a:pPr>
            <a:r>
              <a:rPr b="1" i="1" lang="en" sz="800" u="none" cap="none" strike="noStrike">
                <a:solidFill>
                  <a:srgbClr val="CE4C3B"/>
                </a:solidFill>
                <a:latin typeface="Calibri"/>
                <a:ea typeface="Calibri"/>
                <a:cs typeface="Calibri"/>
                <a:sym typeface="Calibri"/>
              </a:rPr>
              <a:t>duplicate</a:t>
            </a:r>
            <a:endParaRPr b="0" i="0" sz="800" u="none" cap="none" strike="noStrike">
              <a:solidFill>
                <a:schemeClr val="dk1"/>
              </a:solidFill>
              <a:latin typeface="Calibri"/>
              <a:ea typeface="Calibri"/>
              <a:cs typeface="Calibri"/>
              <a:sym typeface="Calibri"/>
            </a:endParaRPr>
          </a:p>
        </p:txBody>
      </p:sp>
      <p:sp>
        <p:nvSpPr>
          <p:cNvPr id="116" name="Google Shape;116;p17"/>
          <p:cNvSpPr/>
          <p:nvPr/>
        </p:nvSpPr>
        <p:spPr>
          <a:xfrm>
            <a:off x="425196" y="3531870"/>
            <a:ext cx="8291322" cy="925830"/>
          </a:xfrm>
          <a:prstGeom prst="roundRect">
            <a:avLst>
              <a:gd fmla="val 6667" name="adj"/>
            </a:avLst>
          </a:prstGeom>
          <a:solidFill>
            <a:srgbClr val="FBE6E2"/>
          </a:solidFill>
          <a:ln cap="flat" cmpd="sng" w="12700">
            <a:solidFill>
              <a:srgbClr val="E6B9B0"/>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7"/>
          <p:cNvSpPr/>
          <p:nvPr/>
        </p:nvSpPr>
        <p:spPr>
          <a:xfrm>
            <a:off x="665226" y="3531870"/>
            <a:ext cx="7811262" cy="925830"/>
          </a:xfrm>
          <a:prstGeom prst="rect">
            <a:avLst/>
          </a:prstGeom>
          <a:noFill/>
          <a:ln>
            <a:noFill/>
          </a:ln>
        </p:spPr>
        <p:txBody>
          <a:bodyPr anchorCtr="0" anchor="ctr" bIns="34275" lIns="68575" spcFirstLastPara="1" rIns="68575" wrap="square" tIns="34275">
            <a:noAutofit/>
          </a:bodyPr>
          <a:lstStyle/>
          <a:p>
            <a:pPr indent="0" lvl="0" marL="0" marR="0" rtl="0" algn="ctr">
              <a:lnSpc>
                <a:spcPct val="108000"/>
              </a:lnSpc>
              <a:spcBef>
                <a:spcPts val="0"/>
              </a:spcBef>
              <a:spcAft>
                <a:spcPts val="0"/>
              </a:spcAft>
              <a:buClr>
                <a:srgbClr val="1C2233"/>
              </a:buClr>
              <a:buSzPts val="1200"/>
              <a:buFont typeface="Calibri"/>
              <a:buNone/>
            </a:pPr>
            <a:r>
              <a:rPr b="1" i="0" lang="en" sz="1200" u="none" cap="none" strike="noStrike">
                <a:solidFill>
                  <a:srgbClr val="1C2233"/>
                </a:solidFill>
                <a:latin typeface="Calibri"/>
                <a:ea typeface="Calibri"/>
                <a:cs typeface="Calibri"/>
                <a:sym typeface="Calibri"/>
              </a:rPr>
              <a:t>Two of three ranges are pure waste. </a:t>
            </a:r>
            <a:endParaRPr b="1" i="0" sz="1200" u="none" cap="none" strike="noStrike">
              <a:solidFill>
                <a:srgbClr val="1C2233"/>
              </a:solidFill>
              <a:latin typeface="Calibri"/>
              <a:ea typeface="Calibri"/>
              <a:cs typeface="Calibri"/>
              <a:sym typeface="Calibri"/>
            </a:endParaRPr>
          </a:p>
          <a:p>
            <a:pPr indent="0" lvl="0" marL="0" marR="0" rtl="0" algn="ctr">
              <a:lnSpc>
                <a:spcPct val="108000"/>
              </a:lnSpc>
              <a:spcBef>
                <a:spcPts val="0"/>
              </a:spcBef>
              <a:spcAft>
                <a:spcPts val="0"/>
              </a:spcAft>
              <a:buClr>
                <a:srgbClr val="1C2233"/>
              </a:buClr>
              <a:buSzPts val="1200"/>
              <a:buFont typeface="Calibri"/>
              <a:buNone/>
            </a:pPr>
            <a:r>
              <a:rPr b="0" i="0" lang="en" sz="1200" u="none" cap="none" strike="noStrike">
                <a:solidFill>
                  <a:srgbClr val="5E6675"/>
                </a:solidFill>
                <a:latin typeface="Calibri"/>
                <a:ea typeface="Calibri"/>
                <a:cs typeface="Calibri"/>
                <a:sym typeface="Calibri"/>
              </a:rPr>
              <a:t>On a large -fmodules build this duplication is one of the things that pushes you toward </a:t>
            </a:r>
            <a:r>
              <a:rPr b="1" i="0" lang="en" sz="1200" u="none" cap="none" strike="noStrike">
                <a:solidFill>
                  <a:srgbClr val="CE4C3B"/>
                </a:solidFill>
                <a:latin typeface="Calibri"/>
                <a:ea typeface="Calibri"/>
                <a:cs typeface="Calibri"/>
                <a:sym typeface="Calibri"/>
              </a:rPr>
              <a:t>source-location exhaustion</a:t>
            </a:r>
            <a:r>
              <a:rPr lang="en" sz="1200">
                <a:solidFill>
                  <a:srgbClr val="5E6675"/>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18" name="Google Shape;118;p17"/>
          <p:cNvSpPr/>
          <p:nvPr/>
        </p:nvSpPr>
        <p:spPr>
          <a:xfrm>
            <a:off x="119145" y="1635661"/>
            <a:ext cx="1543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i="0" lang="en" sz="1100" u="none" cap="none" strike="noStrike">
                <a:solidFill>
                  <a:srgbClr val="3A4A63"/>
                </a:solidFill>
                <a:latin typeface="Courier New"/>
                <a:ea typeface="Courier New"/>
                <a:cs typeface="Courier New"/>
                <a:sym typeface="Courier New"/>
              </a:rPr>
              <a:t>A.pcm</a:t>
            </a:r>
            <a:endParaRPr b="0" i="0" sz="1100" u="none" cap="none" strike="noStrike">
              <a:solidFill>
                <a:schemeClr val="dk1"/>
              </a:solidFill>
              <a:latin typeface="Calibri"/>
              <a:ea typeface="Calibri"/>
              <a:cs typeface="Calibri"/>
              <a:sym typeface="Calibri"/>
            </a:endParaRPr>
          </a:p>
        </p:txBody>
      </p:sp>
      <p:sp>
        <p:nvSpPr>
          <p:cNvPr id="119" name="Google Shape;119;p17"/>
          <p:cNvSpPr/>
          <p:nvPr/>
        </p:nvSpPr>
        <p:spPr>
          <a:xfrm>
            <a:off x="2025670" y="1635636"/>
            <a:ext cx="1543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lang="en" sz="1100">
                <a:solidFill>
                  <a:srgbClr val="3A4A63"/>
                </a:solidFill>
                <a:latin typeface="Courier New"/>
                <a:ea typeface="Courier New"/>
                <a:cs typeface="Courier New"/>
                <a:sym typeface="Courier New"/>
              </a:rPr>
              <a:t>B</a:t>
            </a:r>
            <a:r>
              <a:rPr b="1" i="0" lang="en" sz="1100" u="none" cap="none" strike="noStrike">
                <a:solidFill>
                  <a:srgbClr val="3A4A63"/>
                </a:solidFill>
                <a:latin typeface="Courier New"/>
                <a:ea typeface="Courier New"/>
                <a:cs typeface="Courier New"/>
                <a:sym typeface="Courier New"/>
              </a:rPr>
              <a:t>.pcm</a:t>
            </a:r>
            <a:endParaRPr b="0" i="0" sz="1100" u="none" cap="none" strike="noStrike">
              <a:solidFill>
                <a:schemeClr val="dk1"/>
              </a:solidFill>
              <a:latin typeface="Calibri"/>
              <a:ea typeface="Calibri"/>
              <a:cs typeface="Calibri"/>
              <a:sym typeface="Calibri"/>
            </a:endParaRPr>
          </a:p>
        </p:txBody>
      </p:sp>
      <p:sp>
        <p:nvSpPr>
          <p:cNvPr id="120" name="Google Shape;120;p17"/>
          <p:cNvSpPr/>
          <p:nvPr/>
        </p:nvSpPr>
        <p:spPr>
          <a:xfrm>
            <a:off x="3932195" y="1635636"/>
            <a:ext cx="1543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100"/>
              <a:buFont typeface="Courier New"/>
              <a:buNone/>
            </a:pPr>
            <a:r>
              <a:rPr b="1" lang="en" sz="1100">
                <a:solidFill>
                  <a:srgbClr val="3A4A63"/>
                </a:solidFill>
                <a:latin typeface="Courier New"/>
                <a:ea typeface="Courier New"/>
                <a:cs typeface="Courier New"/>
                <a:sym typeface="Courier New"/>
              </a:rPr>
              <a:t>C</a:t>
            </a:r>
            <a:r>
              <a:rPr b="1" i="0" lang="en" sz="1100" u="none" cap="none" strike="noStrike">
                <a:solidFill>
                  <a:srgbClr val="3A4A63"/>
                </a:solidFill>
                <a:latin typeface="Courier New"/>
                <a:ea typeface="Courier New"/>
                <a:cs typeface="Courier New"/>
                <a:sym typeface="Courier New"/>
              </a:rPr>
              <a:t>.pcm</a:t>
            </a:r>
            <a:endParaRPr b="0" i="0" sz="1100" u="none" cap="none" strike="noStrike">
              <a:solidFill>
                <a:schemeClr val="dk1"/>
              </a:solidFill>
              <a:latin typeface="Calibri"/>
              <a:ea typeface="Calibri"/>
              <a:cs typeface="Calibri"/>
              <a:sym typeface="Calibri"/>
            </a:endParaRPr>
          </a:p>
        </p:txBody>
      </p:sp>
      <p:cxnSp>
        <p:nvCxnSpPr>
          <p:cNvPr id="121" name="Google Shape;121;p17"/>
          <p:cNvCxnSpPr/>
          <p:nvPr/>
        </p:nvCxnSpPr>
        <p:spPr>
          <a:xfrm>
            <a:off x="2190263" y="1501875"/>
            <a:ext cx="3000" cy="1300500"/>
          </a:xfrm>
          <a:prstGeom prst="straightConnector1">
            <a:avLst/>
          </a:prstGeom>
          <a:noFill/>
          <a:ln cap="flat" cmpd="sng" w="28575">
            <a:solidFill>
              <a:schemeClr val="dk1"/>
            </a:solidFill>
            <a:prstDash val="dash"/>
            <a:round/>
            <a:headEnd len="med" w="med" type="none"/>
            <a:tailEnd len="med" w="med" type="none"/>
          </a:ln>
        </p:spPr>
      </p:cxnSp>
      <p:cxnSp>
        <p:nvCxnSpPr>
          <p:cNvPr id="122" name="Google Shape;122;p17"/>
          <p:cNvCxnSpPr/>
          <p:nvPr/>
        </p:nvCxnSpPr>
        <p:spPr>
          <a:xfrm>
            <a:off x="4130325" y="1501875"/>
            <a:ext cx="4500" cy="1299600"/>
          </a:xfrm>
          <a:prstGeom prst="straightConnector1">
            <a:avLst/>
          </a:prstGeom>
          <a:noFill/>
          <a:ln cap="flat" cmpd="sng" w="28575">
            <a:solidFill>
              <a:schemeClr val="dk1"/>
            </a:solidFill>
            <a:prstDash val="dash"/>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18"/>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THE PAYOFF</a:t>
            </a:r>
            <a:endParaRPr b="0" i="0" sz="900" u="none" cap="none" strike="noStrike">
              <a:solidFill>
                <a:schemeClr val="dk1"/>
              </a:solidFill>
              <a:latin typeface="Calibri"/>
              <a:ea typeface="Calibri"/>
              <a:cs typeface="Calibri"/>
              <a:sym typeface="Calibri"/>
            </a:endParaRPr>
          </a:p>
        </p:txBody>
      </p:sp>
      <p:sp>
        <p:nvSpPr>
          <p:cNvPr id="129" name="Google Shape;129;p18"/>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Before → After</a:t>
            </a:r>
            <a:endParaRPr b="0" i="0" sz="2400" u="none" cap="none" strike="noStrike">
              <a:solidFill>
                <a:schemeClr val="dk1"/>
              </a:solidFill>
              <a:latin typeface="Calibri"/>
              <a:ea typeface="Calibri"/>
              <a:cs typeface="Calibri"/>
              <a:sym typeface="Calibri"/>
            </a:endParaRPr>
          </a:p>
        </p:txBody>
      </p:sp>
      <p:sp>
        <p:nvSpPr>
          <p:cNvPr id="130" name="Google Shape;130;p18"/>
          <p:cNvSpPr/>
          <p:nvPr/>
        </p:nvSpPr>
        <p:spPr>
          <a:xfrm>
            <a:off x="425196" y="1680210"/>
            <a:ext cx="822960"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1000"/>
              <a:buFont typeface="Calibri"/>
              <a:buNone/>
            </a:pPr>
            <a:r>
              <a:rPr b="1" i="0" lang="en" sz="1000" u="none" cap="none" strike="noStrike">
                <a:solidFill>
                  <a:srgbClr val="1C2233"/>
                </a:solidFill>
                <a:latin typeface="Calibri"/>
                <a:ea typeface="Calibri"/>
                <a:cs typeface="Calibri"/>
                <a:sym typeface="Calibri"/>
              </a:rPr>
              <a:t>Today</a:t>
            </a:r>
            <a:endParaRPr b="0" i="0" sz="1000" u="none" cap="none" strike="noStrike">
              <a:solidFill>
                <a:schemeClr val="dk1"/>
              </a:solidFill>
              <a:latin typeface="Calibri"/>
              <a:ea typeface="Calibri"/>
              <a:cs typeface="Calibri"/>
              <a:sym typeface="Calibri"/>
            </a:endParaRPr>
          </a:p>
        </p:txBody>
      </p:sp>
      <p:sp>
        <p:nvSpPr>
          <p:cNvPr id="131" name="Google Shape;131;p18"/>
          <p:cNvSpPr/>
          <p:nvPr/>
        </p:nvSpPr>
        <p:spPr>
          <a:xfrm>
            <a:off x="1351026" y="1645920"/>
            <a:ext cx="7365492" cy="493776"/>
          </a:xfrm>
          <a:prstGeom prst="roundRect">
            <a:avLst>
              <a:gd fmla="val 6944" name="adj"/>
            </a:avLst>
          </a:prstGeom>
          <a:solidFill>
            <a:srgbClr val="EEF2F7"/>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8"/>
          <p:cNvSpPr/>
          <p:nvPr/>
        </p:nvSpPr>
        <p:spPr>
          <a:xfrm>
            <a:off x="1419606" y="1714500"/>
            <a:ext cx="2318004" cy="356616"/>
          </a:xfrm>
          <a:prstGeom prst="roundRect">
            <a:avLst>
              <a:gd fmla="val 961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8"/>
          <p:cNvSpPr/>
          <p:nvPr/>
        </p:nvSpPr>
        <p:spPr>
          <a:xfrm>
            <a:off x="1419606" y="1714500"/>
            <a:ext cx="2318004"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34" name="Google Shape;134;p18"/>
          <p:cNvSpPr/>
          <p:nvPr/>
        </p:nvSpPr>
        <p:spPr>
          <a:xfrm>
            <a:off x="3874770" y="1714500"/>
            <a:ext cx="2318004" cy="356616"/>
          </a:xfrm>
          <a:prstGeom prst="roundRect">
            <a:avLst>
              <a:gd fmla="val 961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8"/>
          <p:cNvSpPr/>
          <p:nvPr/>
        </p:nvSpPr>
        <p:spPr>
          <a:xfrm>
            <a:off x="3874770" y="1714500"/>
            <a:ext cx="2318004"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36" name="Google Shape;136;p18"/>
          <p:cNvSpPr/>
          <p:nvPr/>
        </p:nvSpPr>
        <p:spPr>
          <a:xfrm>
            <a:off x="3874770" y="1412748"/>
            <a:ext cx="231800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800"/>
              <a:buFont typeface="Calibri"/>
              <a:buNone/>
            </a:pPr>
            <a:r>
              <a:rPr b="1" i="1" lang="en" sz="800" u="none" cap="none" strike="noStrike">
                <a:solidFill>
                  <a:srgbClr val="CE4C3B"/>
                </a:solidFill>
                <a:latin typeface="Calibri"/>
                <a:ea typeface="Calibri"/>
                <a:cs typeface="Calibri"/>
                <a:sym typeface="Calibri"/>
              </a:rPr>
              <a:t>duplicate</a:t>
            </a:r>
            <a:endParaRPr b="0" i="0" sz="800" u="none" cap="none" strike="noStrike">
              <a:solidFill>
                <a:schemeClr val="dk1"/>
              </a:solidFill>
              <a:latin typeface="Calibri"/>
              <a:ea typeface="Calibri"/>
              <a:cs typeface="Calibri"/>
              <a:sym typeface="Calibri"/>
            </a:endParaRPr>
          </a:p>
        </p:txBody>
      </p:sp>
      <p:sp>
        <p:nvSpPr>
          <p:cNvPr id="137" name="Google Shape;137;p18"/>
          <p:cNvSpPr/>
          <p:nvPr/>
        </p:nvSpPr>
        <p:spPr>
          <a:xfrm>
            <a:off x="6329934" y="1714500"/>
            <a:ext cx="2318004" cy="356616"/>
          </a:xfrm>
          <a:prstGeom prst="roundRect">
            <a:avLst>
              <a:gd fmla="val 961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8"/>
          <p:cNvSpPr/>
          <p:nvPr/>
        </p:nvSpPr>
        <p:spPr>
          <a:xfrm>
            <a:off x="6329934" y="1714500"/>
            <a:ext cx="2318004"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39" name="Google Shape;139;p18"/>
          <p:cNvSpPr/>
          <p:nvPr/>
        </p:nvSpPr>
        <p:spPr>
          <a:xfrm>
            <a:off x="6329934" y="1412748"/>
            <a:ext cx="231800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800"/>
              <a:buFont typeface="Calibri"/>
              <a:buNone/>
            </a:pPr>
            <a:r>
              <a:rPr b="1" i="1" lang="en" sz="800" u="none" cap="none" strike="noStrike">
                <a:solidFill>
                  <a:srgbClr val="CE4C3B"/>
                </a:solidFill>
                <a:latin typeface="Calibri"/>
                <a:ea typeface="Calibri"/>
                <a:cs typeface="Calibri"/>
                <a:sym typeface="Calibri"/>
              </a:rPr>
              <a:t>duplicate</a:t>
            </a:r>
            <a:endParaRPr b="0" i="0" sz="800" u="none" cap="none" strike="noStrike">
              <a:solidFill>
                <a:schemeClr val="dk1"/>
              </a:solidFill>
              <a:latin typeface="Calibri"/>
              <a:ea typeface="Calibri"/>
              <a:cs typeface="Calibri"/>
              <a:sym typeface="Calibri"/>
            </a:endParaRPr>
          </a:p>
        </p:txBody>
      </p:sp>
      <p:sp>
        <p:nvSpPr>
          <p:cNvPr id="140" name="Google Shape;140;p18"/>
          <p:cNvSpPr/>
          <p:nvPr/>
        </p:nvSpPr>
        <p:spPr>
          <a:xfrm>
            <a:off x="321599" y="3257550"/>
            <a:ext cx="9267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Deduplicated</a:t>
            </a:r>
            <a:endParaRPr b="0" i="0" sz="1000" u="none" cap="none" strike="noStrike">
              <a:solidFill>
                <a:schemeClr val="dk1"/>
              </a:solidFill>
              <a:latin typeface="Calibri"/>
              <a:ea typeface="Calibri"/>
              <a:cs typeface="Calibri"/>
              <a:sym typeface="Calibri"/>
            </a:endParaRPr>
          </a:p>
        </p:txBody>
      </p:sp>
      <p:sp>
        <p:nvSpPr>
          <p:cNvPr id="141" name="Google Shape;141;p18"/>
          <p:cNvSpPr/>
          <p:nvPr/>
        </p:nvSpPr>
        <p:spPr>
          <a:xfrm>
            <a:off x="1351026" y="3223260"/>
            <a:ext cx="7365492" cy="493776"/>
          </a:xfrm>
          <a:prstGeom prst="roundRect">
            <a:avLst>
              <a:gd fmla="val 6944" name="adj"/>
            </a:avLst>
          </a:prstGeom>
          <a:solidFill>
            <a:srgbClr val="EEF2F7"/>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8"/>
          <p:cNvSpPr/>
          <p:nvPr/>
        </p:nvSpPr>
        <p:spPr>
          <a:xfrm>
            <a:off x="1419606" y="3291840"/>
            <a:ext cx="2318004" cy="356616"/>
          </a:xfrm>
          <a:prstGeom prst="roundRect">
            <a:avLst>
              <a:gd fmla="val 9615"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18"/>
          <p:cNvSpPr/>
          <p:nvPr/>
        </p:nvSpPr>
        <p:spPr>
          <a:xfrm>
            <a:off x="1419606" y="3291840"/>
            <a:ext cx="2318004" cy="3566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1419606" y="2990088"/>
            <a:ext cx="231800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800"/>
              <a:buFont typeface="Calibri"/>
              <a:buNone/>
            </a:pPr>
            <a:r>
              <a:rPr b="1" i="0" lang="en" sz="800" u="none" cap="none" strike="noStrike">
                <a:solidFill>
                  <a:srgbClr val="2E9E5B"/>
                </a:solidFill>
                <a:latin typeface="Calibri"/>
                <a:ea typeface="Calibri"/>
                <a:cs typeface="Calibri"/>
                <a:sym typeface="Calibri"/>
              </a:rPr>
              <a:t>kept</a:t>
            </a:r>
            <a:endParaRPr b="0" i="0" sz="800" u="none" cap="none" strike="noStrike">
              <a:solidFill>
                <a:schemeClr val="dk1"/>
              </a:solidFill>
              <a:latin typeface="Calibri"/>
              <a:ea typeface="Calibri"/>
              <a:cs typeface="Calibri"/>
              <a:sym typeface="Calibri"/>
            </a:endParaRPr>
          </a:p>
        </p:txBody>
      </p:sp>
      <p:cxnSp>
        <p:nvCxnSpPr>
          <p:cNvPr id="145" name="Google Shape;145;p18"/>
          <p:cNvCxnSpPr>
            <a:stCxn id="138" idx="2"/>
            <a:endCxn id="144" idx="0"/>
          </p:cNvCxnSpPr>
          <p:nvPr/>
        </p:nvCxnSpPr>
        <p:spPr>
          <a:xfrm flipH="1">
            <a:off x="2578536" y="2071116"/>
            <a:ext cx="4910400" cy="918900"/>
          </a:xfrm>
          <a:prstGeom prst="straightConnector1">
            <a:avLst/>
          </a:prstGeom>
          <a:noFill/>
          <a:ln cap="flat" cmpd="sng" w="22225">
            <a:solidFill>
              <a:srgbClr val="9AA3B2"/>
            </a:solidFill>
            <a:prstDash val="dash"/>
            <a:round/>
            <a:headEnd len="sm" w="sm" type="none"/>
            <a:tailEnd len="med" w="med" type="triangle"/>
          </a:ln>
        </p:spPr>
      </p:cxnSp>
      <p:cxnSp>
        <p:nvCxnSpPr>
          <p:cNvPr id="146" name="Google Shape;146;p18"/>
          <p:cNvCxnSpPr>
            <a:stCxn id="135" idx="2"/>
            <a:endCxn id="144" idx="0"/>
          </p:cNvCxnSpPr>
          <p:nvPr/>
        </p:nvCxnSpPr>
        <p:spPr>
          <a:xfrm flipH="1">
            <a:off x="2578572" y="2071116"/>
            <a:ext cx="2455200" cy="918900"/>
          </a:xfrm>
          <a:prstGeom prst="straightConnector1">
            <a:avLst/>
          </a:prstGeom>
          <a:noFill/>
          <a:ln cap="flat" cmpd="sng" w="22225">
            <a:solidFill>
              <a:srgbClr val="9AA3B2"/>
            </a:solidFill>
            <a:prstDash val="dash"/>
            <a:round/>
            <a:headEnd len="sm" w="sm" type="none"/>
            <a:tailEnd len="med" w="med" type="triangle"/>
          </a:ln>
        </p:spPr>
      </p:cxnSp>
      <p:sp>
        <p:nvSpPr>
          <p:cNvPr id="147" name="Google Shape;147;p18"/>
          <p:cNvSpPr/>
          <p:nvPr/>
        </p:nvSpPr>
        <p:spPr>
          <a:xfrm>
            <a:off x="425196" y="4457700"/>
            <a:ext cx="8291322"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Same file, same content — file, line and column are unchanged. A diagnostic pointing into foo.h from B still resolves into A’s copy.</a:t>
            </a:r>
            <a:endParaRPr b="0" i="0" sz="1100" u="none" cap="none" strike="noStrike">
              <a:solidFill>
                <a:schemeClr val="dk1"/>
              </a:solidFill>
              <a:latin typeface="Calibri"/>
              <a:ea typeface="Calibri"/>
              <a:cs typeface="Calibri"/>
              <a:sym typeface="Calibri"/>
            </a:endParaRPr>
          </a:p>
        </p:txBody>
      </p:sp>
      <p:sp>
        <p:nvSpPr>
          <p:cNvPr id="148" name="Google Shape;148;p18"/>
          <p:cNvSpPr/>
          <p:nvPr/>
        </p:nvSpPr>
        <p:spPr>
          <a:xfrm>
            <a:off x="425158" y="4128525"/>
            <a:ext cx="8291400" cy="685800"/>
          </a:xfrm>
          <a:prstGeom prst="roundRect">
            <a:avLst>
              <a:gd fmla="val 9000" name="adj"/>
            </a:avLst>
          </a:prstGeom>
          <a:solidFill>
            <a:srgbClr val="E1F2E8"/>
          </a:solidFill>
          <a:ln cap="flat" cmpd="sng" w="12700">
            <a:solidFill>
              <a:srgbClr val="AEDCC0"/>
            </a:solidFill>
            <a:prstDash val="solid"/>
            <a:round/>
            <a:headEnd len="sm" w="sm" type="none"/>
            <a:tailEnd len="sm" w="sm" type="none"/>
          </a:ln>
          <a:effectLst>
            <a:outerShdw blurRad="88900" rotWithShape="0" algn="bl" dir="5400000" dist="31750">
              <a:srgbClr val="AEB8C6">
                <a:alpha val="302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8"/>
          <p:cNvSpPr/>
          <p:nvPr/>
        </p:nvSpPr>
        <p:spPr>
          <a:xfrm>
            <a:off x="666301" y="4128525"/>
            <a:ext cx="78114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C2233"/>
              </a:buClr>
              <a:buSzPts val="1200"/>
              <a:buFont typeface="Calibri"/>
              <a:buNone/>
            </a:pPr>
            <a:r>
              <a:rPr b="1" i="0" lang="en" sz="1200" u="none" cap="none" strike="noStrike">
                <a:solidFill>
                  <a:srgbClr val="1C2233"/>
                </a:solidFill>
                <a:latin typeface="Calibri"/>
                <a:ea typeface="Calibri"/>
                <a:cs typeface="Calibri"/>
                <a:sym typeface="Calibri"/>
              </a:rPr>
              <a:t>When a file is already loaded, later modules reuse that copy instead of reserving a fresh range.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9"/>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DESIGN</a:t>
            </a:r>
            <a:endParaRPr b="0" i="0" sz="900" u="none" cap="none" strike="noStrike">
              <a:solidFill>
                <a:schemeClr val="dk1"/>
              </a:solidFill>
              <a:latin typeface="Calibri"/>
              <a:ea typeface="Calibri"/>
              <a:cs typeface="Calibri"/>
              <a:sym typeface="Calibri"/>
            </a:endParaRPr>
          </a:p>
        </p:txBody>
      </p:sp>
      <p:sp>
        <p:nvSpPr>
          <p:cNvPr id="156" name="Google Shape;156;p19"/>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When are two entries the same file?</a:t>
            </a:r>
            <a:endParaRPr b="0" i="0" sz="2400" u="none" cap="none" strike="noStrike">
              <a:solidFill>
                <a:schemeClr val="dk1"/>
              </a:solidFill>
              <a:latin typeface="Calibri"/>
              <a:ea typeface="Calibri"/>
              <a:cs typeface="Calibri"/>
              <a:sym typeface="Calibri"/>
            </a:endParaRPr>
          </a:p>
        </p:txBody>
      </p:sp>
      <p:sp>
        <p:nvSpPr>
          <p:cNvPr id="157" name="Google Shape;157;p19"/>
          <p:cNvSpPr/>
          <p:nvPr/>
        </p:nvSpPr>
        <p:spPr>
          <a:xfrm>
            <a:off x="630936" y="1611630"/>
            <a:ext cx="3017520" cy="1474470"/>
          </a:xfrm>
          <a:prstGeom prst="roundRect">
            <a:avLst>
              <a:gd fmla="val 4186"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9"/>
          <p:cNvSpPr/>
          <p:nvPr/>
        </p:nvSpPr>
        <p:spPr>
          <a:xfrm>
            <a:off x="630936" y="1735074"/>
            <a:ext cx="301752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E6675"/>
              </a:buClr>
              <a:buSzPts val="1000"/>
              <a:buFont typeface="Calibri"/>
              <a:buNone/>
            </a:pPr>
            <a:r>
              <a:rPr b="1" i="0" lang="en" sz="1000" u="none" cap="none" strike="noStrike">
                <a:solidFill>
                  <a:srgbClr val="5E6675"/>
                </a:solidFill>
                <a:latin typeface="Calibri"/>
                <a:ea typeface="Calibri"/>
                <a:cs typeface="Calibri"/>
                <a:sym typeface="Calibri"/>
              </a:rPr>
              <a:t>First plan</a:t>
            </a:r>
            <a:endParaRPr b="0" i="0" sz="1000" u="none" cap="none" strike="noStrike">
              <a:solidFill>
                <a:schemeClr val="dk1"/>
              </a:solidFill>
              <a:latin typeface="Calibri"/>
              <a:ea typeface="Calibri"/>
              <a:cs typeface="Calibri"/>
              <a:sym typeface="Calibri"/>
            </a:endParaRPr>
          </a:p>
        </p:txBody>
      </p:sp>
      <p:sp>
        <p:nvSpPr>
          <p:cNvPr id="159" name="Google Shape;159;p19"/>
          <p:cNvSpPr/>
          <p:nvPr/>
        </p:nvSpPr>
        <p:spPr>
          <a:xfrm>
            <a:off x="1385316" y="2105406"/>
            <a:ext cx="1508760" cy="411480"/>
          </a:xfrm>
          <a:prstGeom prst="roundRect">
            <a:avLst>
              <a:gd fmla="val 13333" name="adj"/>
            </a:avLst>
          </a:prstGeom>
          <a:solidFill>
            <a:srgbClr val="FBE6E2"/>
          </a:solidFill>
          <a:ln cap="flat" cmpd="sng" w="15875">
            <a:solidFill>
              <a:srgbClr val="CE4C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1385316" y="2105406"/>
            <a:ext cx="15087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1200"/>
              <a:buFont typeface="Courier New"/>
              <a:buNone/>
            </a:pPr>
            <a:r>
              <a:rPr b="1" i="0" lang="en" sz="1200" u="none" cap="none" strike="noStrike">
                <a:solidFill>
                  <a:srgbClr val="CE4C3B"/>
                </a:solidFill>
                <a:latin typeface="Courier New"/>
                <a:ea typeface="Courier New"/>
                <a:cs typeface="Courier New"/>
                <a:sym typeface="Courier New"/>
              </a:rPr>
              <a:t>FileEntryRef</a:t>
            </a:r>
            <a:endParaRPr b="0" i="0" sz="1200" u="none" cap="none" strike="noStrike">
              <a:solidFill>
                <a:schemeClr val="dk1"/>
              </a:solidFill>
              <a:latin typeface="Calibri"/>
              <a:ea typeface="Calibri"/>
              <a:cs typeface="Calibri"/>
              <a:sym typeface="Calibri"/>
            </a:endParaRPr>
          </a:p>
        </p:txBody>
      </p:sp>
      <p:sp>
        <p:nvSpPr>
          <p:cNvPr id="161" name="Google Shape;161;p19"/>
          <p:cNvSpPr/>
          <p:nvPr/>
        </p:nvSpPr>
        <p:spPr>
          <a:xfrm>
            <a:off x="3134106" y="1714500"/>
            <a:ext cx="41148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1700"/>
              <a:buFont typeface="Calibri"/>
              <a:buNone/>
            </a:pPr>
            <a:r>
              <a:rPr b="1" i="0" lang="en" sz="1700" u="none" cap="none" strike="noStrike">
                <a:solidFill>
                  <a:srgbClr val="CE4C3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2" name="Google Shape;162;p19"/>
          <p:cNvSpPr/>
          <p:nvPr/>
        </p:nvSpPr>
        <p:spPr>
          <a:xfrm>
            <a:off x="836676" y="2606040"/>
            <a:ext cx="2606040"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Resolving the file entry means </a:t>
            </a:r>
            <a:r>
              <a:rPr lang="en" sz="1000">
                <a:solidFill>
                  <a:srgbClr val="5E6675"/>
                </a:solidFill>
                <a:latin typeface="Calibri"/>
                <a:ea typeface="Calibri"/>
                <a:cs typeface="Calibri"/>
                <a:sym typeface="Calibri"/>
              </a:rPr>
              <a:t>unnecessary open</a:t>
            </a:r>
            <a:r>
              <a:rPr b="0" i="0" lang="en" sz="1000" u="none" cap="none" strike="noStrike">
                <a:solidFill>
                  <a:srgbClr val="5E6675"/>
                </a:solidFill>
                <a:latin typeface="Calibri"/>
                <a:ea typeface="Calibri"/>
                <a:cs typeface="Calibri"/>
                <a:sym typeface="Calibri"/>
              </a:rPr>
              <a:t> syscalls at load.</a:t>
            </a:r>
            <a:endParaRPr b="0" i="0" sz="1000" u="none" cap="none" strike="noStrike">
              <a:solidFill>
                <a:schemeClr val="dk1"/>
              </a:solidFill>
              <a:latin typeface="Calibri"/>
              <a:ea typeface="Calibri"/>
              <a:cs typeface="Calibri"/>
              <a:sym typeface="Calibri"/>
            </a:endParaRPr>
          </a:p>
        </p:txBody>
      </p:sp>
      <p:cxnSp>
        <p:nvCxnSpPr>
          <p:cNvPr id="163" name="Google Shape;163;p19"/>
          <p:cNvCxnSpPr/>
          <p:nvPr/>
        </p:nvCxnSpPr>
        <p:spPr>
          <a:xfrm flipH="1" rot="10800000">
            <a:off x="3850900" y="2348775"/>
            <a:ext cx="1539600" cy="600"/>
          </a:xfrm>
          <a:prstGeom prst="straightConnector1">
            <a:avLst/>
          </a:prstGeom>
          <a:noFill/>
          <a:ln cap="flat" cmpd="sng" w="31750">
            <a:solidFill>
              <a:srgbClr val="3A4A63"/>
            </a:solidFill>
            <a:prstDash val="solid"/>
            <a:round/>
            <a:headEnd len="sm" w="sm" type="none"/>
            <a:tailEnd len="med" w="med" type="triangle"/>
          </a:ln>
        </p:spPr>
      </p:cxnSp>
      <p:sp>
        <p:nvSpPr>
          <p:cNvPr id="164" name="Google Shape;164;p19"/>
          <p:cNvSpPr/>
          <p:nvPr/>
        </p:nvSpPr>
        <p:spPr>
          <a:xfrm>
            <a:off x="5493258" y="1611630"/>
            <a:ext cx="3017520" cy="1474470"/>
          </a:xfrm>
          <a:prstGeom prst="roundRect">
            <a:avLst>
              <a:gd fmla="val 4186" name="adj"/>
            </a:avLst>
          </a:prstGeom>
          <a:solidFill>
            <a:srgbClr val="E1F2E8"/>
          </a:solidFill>
          <a:ln cap="flat" cmpd="sng" w="12700">
            <a:solidFill>
              <a:srgbClr val="AEDCC0"/>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19"/>
          <p:cNvSpPr/>
          <p:nvPr/>
        </p:nvSpPr>
        <p:spPr>
          <a:xfrm>
            <a:off x="5493258" y="1735074"/>
            <a:ext cx="301752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What we do</a:t>
            </a:r>
            <a:endParaRPr b="0" i="0" sz="1000" u="none" cap="none" strike="noStrike">
              <a:solidFill>
                <a:schemeClr val="dk1"/>
              </a:solidFill>
              <a:latin typeface="Calibri"/>
              <a:ea typeface="Calibri"/>
              <a:cs typeface="Calibri"/>
              <a:sym typeface="Calibri"/>
            </a:endParaRPr>
          </a:p>
        </p:txBody>
      </p:sp>
      <p:sp>
        <p:nvSpPr>
          <p:cNvPr id="166" name="Google Shape;166;p19"/>
          <p:cNvSpPr/>
          <p:nvPr/>
        </p:nvSpPr>
        <p:spPr>
          <a:xfrm>
            <a:off x="6179058" y="2105406"/>
            <a:ext cx="1645920" cy="411480"/>
          </a:xfrm>
          <a:prstGeom prst="roundRect">
            <a:avLst>
              <a:gd fmla="val 13333" name="adj"/>
            </a:avLst>
          </a:prstGeom>
          <a:solidFill>
            <a:srgbClr val="FFFFFF"/>
          </a:solidFill>
          <a:ln cap="flat" cmpd="sng" w="15875">
            <a:solidFill>
              <a:srgbClr val="2E9E5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9"/>
          <p:cNvSpPr/>
          <p:nvPr/>
        </p:nvSpPr>
        <p:spPr>
          <a:xfrm>
            <a:off x="6179058" y="2105406"/>
            <a:ext cx="1645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1200"/>
              <a:buFont typeface="Courier New"/>
              <a:buNone/>
            </a:pPr>
            <a:r>
              <a:rPr b="1" i="0" lang="en" sz="1200" u="none" cap="none" strike="noStrike">
                <a:solidFill>
                  <a:srgbClr val="2E9E5B"/>
                </a:solidFill>
                <a:latin typeface="Courier New"/>
                <a:ea typeface="Courier New"/>
                <a:cs typeface="Courier New"/>
                <a:sym typeface="Courier New"/>
              </a:rPr>
              <a:t>name + size</a:t>
            </a:r>
            <a:endParaRPr b="0" i="0" sz="1200" u="none" cap="none" strike="noStrike">
              <a:solidFill>
                <a:schemeClr val="dk1"/>
              </a:solidFill>
              <a:latin typeface="Calibri"/>
              <a:ea typeface="Calibri"/>
              <a:cs typeface="Calibri"/>
              <a:sym typeface="Calibri"/>
            </a:endParaRPr>
          </a:p>
        </p:txBody>
      </p:sp>
      <p:sp>
        <p:nvSpPr>
          <p:cNvPr id="168" name="Google Shape;168;p19"/>
          <p:cNvSpPr/>
          <p:nvPr/>
        </p:nvSpPr>
        <p:spPr>
          <a:xfrm>
            <a:off x="7996428" y="1714500"/>
            <a:ext cx="41148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9E5B"/>
              </a:buClr>
              <a:buSzPts val="1700"/>
              <a:buFont typeface="Calibri"/>
              <a:buNone/>
            </a:pPr>
            <a:r>
              <a:rPr b="1" i="0" lang="en" sz="1700" u="none" cap="none" strike="noStrike">
                <a:solidFill>
                  <a:srgbClr val="2E9E5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9" name="Google Shape;169;p19"/>
          <p:cNvSpPr/>
          <p:nvPr/>
        </p:nvSpPr>
        <p:spPr>
          <a:xfrm>
            <a:off x="5698998" y="2606040"/>
            <a:ext cx="2606040"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Read straight from the serialized entry metadata.</a:t>
            </a:r>
            <a:endParaRPr b="0" i="0" sz="1000" u="none" cap="none" strike="noStrike">
              <a:solidFill>
                <a:schemeClr val="dk1"/>
              </a:solidFill>
              <a:latin typeface="Calibri"/>
              <a:ea typeface="Calibri"/>
              <a:cs typeface="Calibri"/>
              <a:sym typeface="Calibri"/>
            </a:endParaRPr>
          </a:p>
        </p:txBody>
      </p:sp>
      <p:sp>
        <p:nvSpPr>
          <p:cNvPr id="170" name="Google Shape;170;p19"/>
          <p:cNvSpPr/>
          <p:nvPr/>
        </p:nvSpPr>
        <p:spPr>
          <a:xfrm>
            <a:off x="425196" y="3531870"/>
            <a:ext cx="8291400" cy="925800"/>
          </a:xfrm>
          <a:prstGeom prst="roundRect">
            <a:avLst>
              <a:gd fmla="val 6667"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19"/>
          <p:cNvSpPr/>
          <p:nvPr/>
        </p:nvSpPr>
        <p:spPr>
          <a:xfrm>
            <a:off x="768096" y="3819906"/>
            <a:ext cx="78867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19"/>
          <p:cNvSpPr/>
          <p:nvPr/>
        </p:nvSpPr>
        <p:spPr>
          <a:xfrm>
            <a:off x="768096" y="3819906"/>
            <a:ext cx="78867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73" name="Google Shape;173;p19"/>
          <p:cNvSpPr/>
          <p:nvPr/>
        </p:nvSpPr>
        <p:spPr>
          <a:xfrm>
            <a:off x="768096" y="3641598"/>
            <a:ext cx="78867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alibri"/>
              <a:buNone/>
            </a:pPr>
            <a:r>
              <a:rPr b="0" i="0" lang="en" sz="800" u="none" cap="none" strike="noStrike">
                <a:solidFill>
                  <a:srgbClr val="9AA3B2"/>
                </a:solidFill>
                <a:latin typeface="Calibri"/>
                <a:ea typeface="Calibri"/>
                <a:cs typeface="Calibri"/>
                <a:sym typeface="Calibri"/>
              </a:rPr>
              <a:t>size 812</a:t>
            </a:r>
            <a:endParaRPr b="0" i="0" sz="800" u="none" cap="none" strike="noStrike">
              <a:solidFill>
                <a:schemeClr val="dk1"/>
              </a:solidFill>
              <a:latin typeface="Calibri"/>
              <a:ea typeface="Calibri"/>
              <a:cs typeface="Calibri"/>
              <a:sym typeface="Calibri"/>
            </a:endParaRPr>
          </a:p>
        </p:txBody>
      </p:sp>
      <p:sp>
        <p:nvSpPr>
          <p:cNvPr id="174" name="Google Shape;174;p19"/>
          <p:cNvSpPr/>
          <p:nvPr/>
        </p:nvSpPr>
        <p:spPr>
          <a:xfrm>
            <a:off x="1625346" y="3819906"/>
            <a:ext cx="27432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9E5B"/>
              </a:buClr>
              <a:buSzPts val="1500"/>
              <a:buFont typeface="Calibri"/>
              <a:buNone/>
            </a:pPr>
            <a:r>
              <a:rPr b="1" i="0" lang="en" sz="1500" u="none" cap="none" strike="noStrike">
                <a:solidFill>
                  <a:srgbClr val="2E9E5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5" name="Google Shape;175;p19"/>
          <p:cNvSpPr/>
          <p:nvPr/>
        </p:nvSpPr>
        <p:spPr>
          <a:xfrm>
            <a:off x="1933956" y="3819906"/>
            <a:ext cx="788670" cy="342900"/>
          </a:xfrm>
          <a:prstGeom prst="roundRect">
            <a:avLst>
              <a:gd fmla="val 16000"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 name="Google Shape;176;p19"/>
          <p:cNvSpPr/>
          <p:nvPr/>
        </p:nvSpPr>
        <p:spPr>
          <a:xfrm>
            <a:off x="1933956" y="3819906"/>
            <a:ext cx="78867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177" name="Google Shape;177;p19"/>
          <p:cNvSpPr/>
          <p:nvPr/>
        </p:nvSpPr>
        <p:spPr>
          <a:xfrm>
            <a:off x="1933956" y="3641598"/>
            <a:ext cx="78867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alibri"/>
              <a:buNone/>
            </a:pPr>
            <a:r>
              <a:rPr b="0" i="0" lang="en" sz="800" u="none" cap="none" strike="noStrike">
                <a:solidFill>
                  <a:srgbClr val="9AA3B2"/>
                </a:solidFill>
                <a:latin typeface="Calibri"/>
                <a:ea typeface="Calibri"/>
                <a:cs typeface="Calibri"/>
                <a:sym typeface="Calibri"/>
              </a:rPr>
              <a:t>size 812</a:t>
            </a:r>
            <a:endParaRPr b="0" i="0" sz="800" u="none" cap="none" strike="noStrike">
              <a:solidFill>
                <a:schemeClr val="dk1"/>
              </a:solidFill>
              <a:latin typeface="Calibri"/>
              <a:ea typeface="Calibri"/>
              <a:cs typeface="Calibri"/>
              <a:sym typeface="Calibri"/>
            </a:endParaRPr>
          </a:p>
        </p:txBody>
      </p:sp>
      <p:sp>
        <p:nvSpPr>
          <p:cNvPr id="178" name="Google Shape;178;p19"/>
          <p:cNvSpPr/>
          <p:nvPr/>
        </p:nvSpPr>
        <p:spPr>
          <a:xfrm>
            <a:off x="905256" y="4203954"/>
            <a:ext cx="1783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900"/>
              <a:buFont typeface="Calibri"/>
              <a:buNone/>
            </a:pPr>
            <a:r>
              <a:rPr b="1" i="0" lang="en" sz="900" u="none" cap="none" strike="noStrike">
                <a:solidFill>
                  <a:srgbClr val="2E9E5B"/>
                </a:solidFill>
                <a:latin typeface="Calibri"/>
                <a:ea typeface="Calibri"/>
                <a:cs typeface="Calibri"/>
                <a:sym typeface="Calibri"/>
              </a:rPr>
              <a:t>same name &amp; size → same file</a:t>
            </a:r>
            <a:endParaRPr b="0" i="0" sz="900" u="none" cap="none" strike="noStrike">
              <a:solidFill>
                <a:schemeClr val="dk1"/>
              </a:solidFill>
              <a:latin typeface="Calibri"/>
              <a:ea typeface="Calibri"/>
              <a:cs typeface="Calibri"/>
              <a:sym typeface="Calibri"/>
            </a:endParaRPr>
          </a:p>
        </p:txBody>
      </p:sp>
      <p:sp>
        <p:nvSpPr>
          <p:cNvPr id="179" name="Google Shape;179;p19"/>
          <p:cNvSpPr/>
          <p:nvPr/>
        </p:nvSpPr>
        <p:spPr>
          <a:xfrm>
            <a:off x="5212080" y="3819906"/>
            <a:ext cx="685800" cy="342900"/>
          </a:xfrm>
          <a:prstGeom prst="roundRect">
            <a:avLst>
              <a:gd fmla="val 16000" name="adj"/>
            </a:avLst>
          </a:prstGeom>
          <a:solidFill>
            <a:srgbClr val="E6EDFD"/>
          </a:solidFill>
          <a:ln cap="flat" cmpd="sng" w="19050">
            <a:solidFill>
              <a:srgbClr val="2F6B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19"/>
          <p:cNvSpPr/>
          <p:nvPr/>
        </p:nvSpPr>
        <p:spPr>
          <a:xfrm>
            <a:off x="5212080" y="3819906"/>
            <a:ext cx="6858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BEB"/>
              </a:buClr>
              <a:buSzPts val="1000"/>
              <a:buFont typeface="Courier New"/>
              <a:buNone/>
            </a:pPr>
            <a:r>
              <a:rPr b="1" i="0" lang="en" sz="1000" u="none" cap="none" strike="noStrike">
                <a:solidFill>
                  <a:srgbClr val="2F6BEB"/>
                </a:solidFill>
                <a:latin typeface="Courier New"/>
                <a:ea typeface="Courier New"/>
                <a:cs typeface="Courier New"/>
                <a:sym typeface="Courier New"/>
              </a:rPr>
              <a:t>a.h</a:t>
            </a:r>
            <a:endParaRPr b="0" i="0" sz="1000" u="none" cap="none" strike="noStrike">
              <a:solidFill>
                <a:schemeClr val="dk1"/>
              </a:solidFill>
              <a:latin typeface="Calibri"/>
              <a:ea typeface="Calibri"/>
              <a:cs typeface="Calibri"/>
              <a:sym typeface="Calibri"/>
            </a:endParaRPr>
          </a:p>
        </p:txBody>
      </p:sp>
      <p:sp>
        <p:nvSpPr>
          <p:cNvPr id="181" name="Google Shape;181;p19"/>
          <p:cNvSpPr/>
          <p:nvPr/>
        </p:nvSpPr>
        <p:spPr>
          <a:xfrm>
            <a:off x="5966460" y="3819906"/>
            <a:ext cx="27432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1500"/>
              <a:buFont typeface="Calibri"/>
              <a:buNone/>
            </a:pPr>
            <a:r>
              <a:rPr b="1" i="0" lang="en" sz="1500" u="none" cap="none" strike="noStrike">
                <a:solidFill>
                  <a:srgbClr val="CE4C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82" name="Google Shape;182;p19"/>
          <p:cNvSpPr/>
          <p:nvPr/>
        </p:nvSpPr>
        <p:spPr>
          <a:xfrm>
            <a:off x="6275070" y="3819906"/>
            <a:ext cx="685800" cy="342900"/>
          </a:xfrm>
          <a:prstGeom prst="roundRect">
            <a:avLst>
              <a:gd fmla="val 16000" name="adj"/>
            </a:avLst>
          </a:prstGeom>
          <a:solidFill>
            <a:srgbClr val="FAEBD9"/>
          </a:solidFill>
          <a:ln cap="flat" cmpd="sng" w="19050">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19"/>
          <p:cNvSpPr/>
          <p:nvPr/>
        </p:nvSpPr>
        <p:spPr>
          <a:xfrm>
            <a:off x="6275070" y="3819906"/>
            <a:ext cx="6858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1" lang="en" sz="1000">
                <a:solidFill>
                  <a:srgbClr val="DE7A29"/>
                </a:solidFill>
                <a:latin typeface="Courier New"/>
                <a:ea typeface="Courier New"/>
                <a:cs typeface="Courier New"/>
                <a:sym typeface="Courier New"/>
              </a:rPr>
              <a:t>a</a:t>
            </a:r>
            <a:r>
              <a:rPr b="1" i="0" lang="en" sz="1000" u="none" cap="none" strike="noStrike">
                <a:solidFill>
                  <a:srgbClr val="DE7A29"/>
                </a:solidFill>
                <a:latin typeface="Courier New"/>
                <a:ea typeface="Courier New"/>
                <a:cs typeface="Courier New"/>
                <a:sym typeface="Courier New"/>
              </a:rPr>
              <a:t>.h</a:t>
            </a:r>
            <a:endParaRPr b="0" i="0" sz="1000" u="none" cap="none" strike="noStrike">
              <a:solidFill>
                <a:schemeClr val="dk1"/>
              </a:solidFill>
              <a:latin typeface="Calibri"/>
              <a:ea typeface="Calibri"/>
              <a:cs typeface="Calibri"/>
              <a:sym typeface="Calibri"/>
            </a:endParaRPr>
          </a:p>
        </p:txBody>
      </p:sp>
      <p:sp>
        <p:nvSpPr>
          <p:cNvPr id="184" name="Google Shape;184;p19"/>
          <p:cNvSpPr/>
          <p:nvPr/>
        </p:nvSpPr>
        <p:spPr>
          <a:xfrm>
            <a:off x="5074920" y="4203954"/>
            <a:ext cx="20574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900"/>
              <a:buFont typeface="Calibri"/>
              <a:buNone/>
            </a:pPr>
            <a:r>
              <a:rPr b="1" i="0" lang="en" sz="900" u="none" cap="none" strike="noStrike">
                <a:solidFill>
                  <a:srgbClr val="1C2233"/>
                </a:solidFill>
                <a:latin typeface="Calibri"/>
                <a:ea typeface="Calibri"/>
                <a:cs typeface="Calibri"/>
                <a:sym typeface="Calibri"/>
              </a:rPr>
              <a:t>different name → stays distinct</a:t>
            </a:r>
            <a:endParaRPr b="0" i="0" sz="900" u="none" cap="none" strike="noStrike">
              <a:solidFill>
                <a:schemeClr val="dk1"/>
              </a:solidFill>
              <a:latin typeface="Calibri"/>
              <a:ea typeface="Calibri"/>
              <a:cs typeface="Calibri"/>
              <a:sym typeface="Calibri"/>
            </a:endParaRPr>
          </a:p>
        </p:txBody>
      </p:sp>
      <p:sp>
        <p:nvSpPr>
          <p:cNvPr id="185" name="Google Shape;185;p19"/>
          <p:cNvSpPr/>
          <p:nvPr/>
        </p:nvSpPr>
        <p:spPr>
          <a:xfrm>
            <a:off x="2529475" y="4464550"/>
            <a:ext cx="3977700" cy="240000"/>
          </a:xfrm>
          <a:prstGeom prst="rect">
            <a:avLst/>
          </a:prstGeom>
          <a:noFill/>
          <a:ln>
            <a:noFill/>
          </a:ln>
        </p:spPr>
        <p:txBody>
          <a:bodyPr anchorCtr="0" anchor="t" bIns="34275" lIns="68575" spcFirstLastPara="1" rIns="68575" wrap="square" tIns="34275">
            <a:noAutofit/>
          </a:bodyPr>
          <a:lstStyle/>
          <a:p>
            <a:pPr indent="0" lvl="0" marL="0" marR="0" rtl="0" algn="l">
              <a:lnSpc>
                <a:spcPct val="105000"/>
              </a:lnSpc>
              <a:spcBef>
                <a:spcPts val="0"/>
              </a:spcBef>
              <a:spcAft>
                <a:spcPts val="0"/>
              </a:spcAft>
              <a:buClr>
                <a:srgbClr val="9AA3B2"/>
              </a:buClr>
              <a:buSzPts val="900"/>
              <a:buFont typeface="Calibri"/>
              <a:buNone/>
            </a:pPr>
            <a:r>
              <a:rPr b="0" i="0" lang="en" sz="900" u="none" cap="none" strike="noStrike">
                <a:solidFill>
                  <a:srgbClr val="9AA3B2"/>
                </a:solidFill>
                <a:latin typeface="Calibri"/>
                <a:ea typeface="Calibri"/>
                <a:cs typeface="Calibri"/>
                <a:sym typeface="Calibri"/>
              </a:rPr>
              <a:t>size guards against two modules built against different versions of the same </a:t>
            </a:r>
            <a:r>
              <a:rPr lang="en" sz="900">
                <a:solidFill>
                  <a:srgbClr val="9AA3B2"/>
                </a:solidFill>
                <a:latin typeface="Calibri"/>
                <a:ea typeface="Calibri"/>
                <a:cs typeface="Calibri"/>
                <a:sym typeface="Calibri"/>
              </a:rPr>
              <a:t>file</a:t>
            </a:r>
            <a:endParaRPr b="0" i="0" sz="900" u="none" cap="none" strike="noStrike">
              <a:solidFill>
                <a:schemeClr val="dk1"/>
              </a:solidFill>
              <a:latin typeface="Calibri"/>
              <a:ea typeface="Calibri"/>
              <a:cs typeface="Calibri"/>
              <a:sym typeface="Calibri"/>
            </a:endParaRPr>
          </a:p>
        </p:txBody>
      </p:sp>
      <p:sp>
        <p:nvSpPr>
          <p:cNvPr id="186" name="Google Shape;186;p19"/>
          <p:cNvSpPr/>
          <p:nvPr/>
        </p:nvSpPr>
        <p:spPr>
          <a:xfrm>
            <a:off x="5143446" y="3641536"/>
            <a:ext cx="7887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alibri"/>
              <a:buNone/>
            </a:pPr>
            <a:r>
              <a:rPr b="0" i="0" lang="en" sz="800" u="none" cap="none" strike="noStrike">
                <a:solidFill>
                  <a:srgbClr val="9AA3B2"/>
                </a:solidFill>
                <a:latin typeface="Calibri"/>
                <a:ea typeface="Calibri"/>
                <a:cs typeface="Calibri"/>
                <a:sym typeface="Calibri"/>
              </a:rPr>
              <a:t>size 812</a:t>
            </a:r>
            <a:endParaRPr b="0" i="0" sz="800" u="none" cap="none" strike="noStrike">
              <a:solidFill>
                <a:schemeClr val="dk1"/>
              </a:solidFill>
              <a:latin typeface="Calibri"/>
              <a:ea typeface="Calibri"/>
              <a:cs typeface="Calibri"/>
              <a:sym typeface="Calibri"/>
            </a:endParaRPr>
          </a:p>
        </p:txBody>
      </p:sp>
      <p:sp>
        <p:nvSpPr>
          <p:cNvPr id="187" name="Google Shape;187;p19"/>
          <p:cNvSpPr/>
          <p:nvPr/>
        </p:nvSpPr>
        <p:spPr>
          <a:xfrm>
            <a:off x="6223621" y="3655311"/>
            <a:ext cx="7887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alibri"/>
              <a:buNone/>
            </a:pPr>
            <a:r>
              <a:rPr b="0" i="0" lang="en" sz="800" u="none" cap="none" strike="noStrike">
                <a:solidFill>
                  <a:srgbClr val="9AA3B2"/>
                </a:solidFill>
                <a:latin typeface="Calibri"/>
                <a:ea typeface="Calibri"/>
                <a:cs typeface="Calibri"/>
                <a:sym typeface="Calibri"/>
              </a:rPr>
              <a:t>size </a:t>
            </a:r>
            <a:r>
              <a:rPr lang="en" sz="800">
                <a:solidFill>
                  <a:srgbClr val="9AA3B2"/>
                </a:solidFill>
                <a:latin typeface="Calibri"/>
                <a:ea typeface="Calibri"/>
                <a:cs typeface="Calibri"/>
                <a:sym typeface="Calibri"/>
              </a:rPr>
              <a:t>912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20"/>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HOW IT WORKS</a:t>
            </a:r>
            <a:endParaRPr b="0" i="0" sz="900" u="none" cap="none" strike="noStrike">
              <a:solidFill>
                <a:schemeClr val="dk1"/>
              </a:solidFill>
              <a:latin typeface="Calibri"/>
              <a:ea typeface="Calibri"/>
              <a:cs typeface="Calibri"/>
              <a:sym typeface="Calibri"/>
            </a:endParaRPr>
          </a:p>
        </p:txBody>
      </p:sp>
      <p:sp>
        <p:nvSpPr>
          <p:cNvPr id="194" name="Google Shape;194;p20"/>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What happens when a module loads</a:t>
            </a:r>
            <a:endParaRPr b="0" i="0" sz="2400" u="none" cap="none" strike="noStrike">
              <a:solidFill>
                <a:schemeClr val="dk1"/>
              </a:solidFill>
              <a:latin typeface="Calibri"/>
              <a:ea typeface="Calibri"/>
              <a:cs typeface="Calibri"/>
              <a:sym typeface="Calibri"/>
            </a:endParaRPr>
          </a:p>
        </p:txBody>
      </p:sp>
      <p:sp>
        <p:nvSpPr>
          <p:cNvPr id="195" name="Google Shape;195;p20"/>
          <p:cNvSpPr/>
          <p:nvPr/>
        </p:nvSpPr>
        <p:spPr>
          <a:xfrm>
            <a:off x="425196" y="1885950"/>
            <a:ext cx="1815656" cy="1371600"/>
          </a:xfrm>
          <a:prstGeom prst="roundRect">
            <a:avLst>
              <a:gd fmla="val 4500"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0"/>
          <p:cNvSpPr/>
          <p:nvPr/>
        </p:nvSpPr>
        <p:spPr>
          <a:xfrm>
            <a:off x="1113568" y="2077974"/>
            <a:ext cx="438912" cy="438912"/>
          </a:xfrm>
          <a:prstGeom prst="ellipse">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0"/>
          <p:cNvSpPr/>
          <p:nvPr/>
        </p:nvSpPr>
        <p:spPr>
          <a:xfrm>
            <a:off x="1113568" y="207797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700"/>
              <a:buFont typeface="Cambria"/>
              <a:buNone/>
            </a:pPr>
            <a:r>
              <a:rPr b="1" i="0" lang="en" sz="1700" u="none" cap="none" strike="noStrike">
                <a:solidFill>
                  <a:srgbClr val="0E8F8F"/>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198" name="Google Shape;198;p20"/>
          <p:cNvSpPr/>
          <p:nvPr/>
        </p:nvSpPr>
        <p:spPr>
          <a:xfrm>
            <a:off x="425196" y="2606040"/>
            <a:ext cx="181565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1400"/>
              <a:buFont typeface="Cambria"/>
              <a:buNone/>
            </a:pPr>
            <a:r>
              <a:rPr b="1" i="0" lang="en" sz="1400" u="none" cap="none" strike="noStrike">
                <a:solidFill>
                  <a:srgbClr val="1C2233"/>
                </a:solidFill>
                <a:latin typeface="Cambria"/>
                <a:ea typeface="Cambria"/>
                <a:cs typeface="Cambria"/>
                <a:sym typeface="Cambria"/>
              </a:rPr>
              <a:t>Scan</a:t>
            </a:r>
            <a:endParaRPr b="0" i="0" sz="1400" u="none" cap="none" strike="noStrike">
              <a:solidFill>
                <a:schemeClr val="dk1"/>
              </a:solidFill>
              <a:latin typeface="Calibri"/>
              <a:ea typeface="Calibri"/>
              <a:cs typeface="Calibri"/>
              <a:sym typeface="Calibri"/>
            </a:endParaRPr>
          </a:p>
        </p:txBody>
      </p:sp>
      <p:sp>
        <p:nvSpPr>
          <p:cNvPr id="199" name="Google Shape;199;p20"/>
          <p:cNvSpPr/>
          <p:nvPr/>
        </p:nvSpPr>
        <p:spPr>
          <a:xfrm>
            <a:off x="493776" y="2900934"/>
            <a:ext cx="1678495" cy="3086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read the entry records</a:t>
            </a:r>
            <a:endParaRPr b="0" i="0" sz="900" u="none" cap="none" strike="noStrike">
              <a:solidFill>
                <a:schemeClr val="dk1"/>
              </a:solidFill>
              <a:latin typeface="Calibri"/>
              <a:ea typeface="Calibri"/>
              <a:cs typeface="Calibri"/>
              <a:sym typeface="Calibri"/>
            </a:endParaRPr>
          </a:p>
        </p:txBody>
      </p:sp>
      <p:cxnSp>
        <p:nvCxnSpPr>
          <p:cNvPr id="200" name="Google Shape;200;p20"/>
          <p:cNvCxnSpPr/>
          <p:nvPr/>
        </p:nvCxnSpPr>
        <p:spPr>
          <a:xfrm>
            <a:off x="2295716" y="2571750"/>
            <a:ext cx="233172" cy="0"/>
          </a:xfrm>
          <a:prstGeom prst="straightConnector1">
            <a:avLst/>
          </a:prstGeom>
          <a:noFill/>
          <a:ln cap="flat" cmpd="sng" w="28575">
            <a:solidFill>
              <a:srgbClr val="9AA3B2"/>
            </a:solidFill>
            <a:prstDash val="solid"/>
            <a:round/>
            <a:headEnd len="sm" w="sm" type="none"/>
            <a:tailEnd len="med" w="med" type="triangle"/>
          </a:ln>
        </p:spPr>
      </p:cxnSp>
      <p:sp>
        <p:nvSpPr>
          <p:cNvPr id="201" name="Google Shape;201;p20"/>
          <p:cNvSpPr/>
          <p:nvPr/>
        </p:nvSpPr>
        <p:spPr>
          <a:xfrm>
            <a:off x="2583752" y="1885950"/>
            <a:ext cx="1815656" cy="1371600"/>
          </a:xfrm>
          <a:prstGeom prst="roundRect">
            <a:avLst>
              <a:gd fmla="val 4500"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0"/>
          <p:cNvSpPr/>
          <p:nvPr/>
        </p:nvSpPr>
        <p:spPr>
          <a:xfrm>
            <a:off x="3272123" y="2077974"/>
            <a:ext cx="438912" cy="438912"/>
          </a:xfrm>
          <a:prstGeom prst="ellipse">
            <a:avLst/>
          </a:prstGeom>
          <a:solidFill>
            <a:srgbClr val="FAEBD9"/>
          </a:solidFill>
          <a:ln cap="flat" cmpd="sng" w="19050">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20"/>
          <p:cNvSpPr/>
          <p:nvPr/>
        </p:nvSpPr>
        <p:spPr>
          <a:xfrm>
            <a:off x="3272123" y="207797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700"/>
              <a:buFont typeface="Cambria"/>
              <a:buNone/>
            </a:pPr>
            <a:r>
              <a:rPr b="1" i="0" lang="en" sz="1700" u="none" cap="none" strike="noStrike">
                <a:solidFill>
                  <a:srgbClr val="DE7A29"/>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204" name="Google Shape;204;p20"/>
          <p:cNvSpPr/>
          <p:nvPr/>
        </p:nvSpPr>
        <p:spPr>
          <a:xfrm>
            <a:off x="2583752" y="2606040"/>
            <a:ext cx="181565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1400"/>
              <a:buFont typeface="Cambria"/>
              <a:buNone/>
            </a:pPr>
            <a:r>
              <a:rPr b="1" i="0" lang="en" sz="1400" u="none" cap="none" strike="noStrike">
                <a:solidFill>
                  <a:srgbClr val="1C2233"/>
                </a:solidFill>
                <a:latin typeface="Cambria"/>
                <a:ea typeface="Cambria"/>
                <a:cs typeface="Cambria"/>
                <a:sym typeface="Cambria"/>
              </a:rPr>
              <a:t>Classify</a:t>
            </a:r>
            <a:endParaRPr b="0" i="0" sz="1400" u="none" cap="none" strike="noStrike">
              <a:solidFill>
                <a:schemeClr val="dk1"/>
              </a:solidFill>
              <a:latin typeface="Calibri"/>
              <a:ea typeface="Calibri"/>
              <a:cs typeface="Calibri"/>
              <a:sym typeface="Calibri"/>
            </a:endParaRPr>
          </a:p>
        </p:txBody>
      </p:sp>
      <p:sp>
        <p:nvSpPr>
          <p:cNvPr id="205" name="Google Shape;205;p20"/>
          <p:cNvSpPr/>
          <p:nvPr/>
        </p:nvSpPr>
        <p:spPr>
          <a:xfrm>
            <a:off x="2652331" y="2900934"/>
            <a:ext cx="1678495" cy="3086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flag files already loaded</a:t>
            </a:r>
            <a:endParaRPr b="0" i="0" sz="900" u="none" cap="none" strike="noStrike">
              <a:solidFill>
                <a:schemeClr val="dk1"/>
              </a:solidFill>
              <a:latin typeface="Calibri"/>
              <a:ea typeface="Calibri"/>
              <a:cs typeface="Calibri"/>
              <a:sym typeface="Calibri"/>
            </a:endParaRPr>
          </a:p>
        </p:txBody>
      </p:sp>
      <p:cxnSp>
        <p:nvCxnSpPr>
          <p:cNvPr id="206" name="Google Shape;206;p20"/>
          <p:cNvCxnSpPr/>
          <p:nvPr/>
        </p:nvCxnSpPr>
        <p:spPr>
          <a:xfrm>
            <a:off x="4454271" y="2571750"/>
            <a:ext cx="233172" cy="0"/>
          </a:xfrm>
          <a:prstGeom prst="straightConnector1">
            <a:avLst/>
          </a:prstGeom>
          <a:noFill/>
          <a:ln cap="flat" cmpd="sng" w="28575">
            <a:solidFill>
              <a:srgbClr val="9AA3B2"/>
            </a:solidFill>
            <a:prstDash val="solid"/>
            <a:round/>
            <a:headEnd len="sm" w="sm" type="none"/>
            <a:tailEnd len="med" w="med" type="triangle"/>
          </a:ln>
        </p:spPr>
      </p:cxnSp>
      <p:sp>
        <p:nvSpPr>
          <p:cNvPr id="207" name="Google Shape;207;p20"/>
          <p:cNvSpPr/>
          <p:nvPr/>
        </p:nvSpPr>
        <p:spPr>
          <a:xfrm>
            <a:off x="4742307" y="1885950"/>
            <a:ext cx="1815656" cy="1371600"/>
          </a:xfrm>
          <a:prstGeom prst="roundRect">
            <a:avLst>
              <a:gd fmla="val 4500"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0"/>
          <p:cNvSpPr/>
          <p:nvPr/>
        </p:nvSpPr>
        <p:spPr>
          <a:xfrm>
            <a:off x="5430679" y="2077974"/>
            <a:ext cx="438912" cy="438912"/>
          </a:xfrm>
          <a:prstGeom prst="ellipse">
            <a:avLst/>
          </a:prstGeom>
          <a:solidFill>
            <a:srgbClr val="E6EDFD"/>
          </a:solidFill>
          <a:ln cap="flat" cmpd="sng" w="19050">
            <a:solidFill>
              <a:srgbClr val="2F6B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0"/>
          <p:cNvSpPr/>
          <p:nvPr/>
        </p:nvSpPr>
        <p:spPr>
          <a:xfrm>
            <a:off x="5430679" y="207797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BEB"/>
              </a:buClr>
              <a:buSzPts val="1700"/>
              <a:buFont typeface="Cambria"/>
              <a:buNone/>
            </a:pPr>
            <a:r>
              <a:rPr b="1" i="0" lang="en" sz="1700" u="none" cap="none" strike="noStrike">
                <a:solidFill>
                  <a:srgbClr val="2F6BEB"/>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210" name="Google Shape;210;p20"/>
          <p:cNvSpPr/>
          <p:nvPr/>
        </p:nvSpPr>
        <p:spPr>
          <a:xfrm>
            <a:off x="4742307" y="2606040"/>
            <a:ext cx="181565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1400"/>
              <a:buFont typeface="Cambria"/>
              <a:buNone/>
            </a:pPr>
            <a:r>
              <a:rPr b="1" i="0" lang="en" sz="1400" u="none" cap="none" strike="noStrike">
                <a:solidFill>
                  <a:srgbClr val="1C2233"/>
                </a:solidFill>
                <a:latin typeface="Cambria"/>
                <a:ea typeface="Cambria"/>
                <a:cs typeface="Cambria"/>
                <a:sym typeface="Cambria"/>
              </a:rPr>
              <a:t>Reduce</a:t>
            </a:r>
            <a:endParaRPr b="0" i="0" sz="1400" u="none" cap="none" strike="noStrike">
              <a:solidFill>
                <a:schemeClr val="dk1"/>
              </a:solidFill>
              <a:latin typeface="Calibri"/>
              <a:ea typeface="Calibri"/>
              <a:cs typeface="Calibri"/>
              <a:sym typeface="Calibri"/>
            </a:endParaRPr>
          </a:p>
        </p:txBody>
      </p:sp>
      <p:sp>
        <p:nvSpPr>
          <p:cNvPr id="211" name="Google Shape;211;p20"/>
          <p:cNvSpPr/>
          <p:nvPr/>
        </p:nvSpPr>
        <p:spPr>
          <a:xfrm>
            <a:off x="4810887" y="2900934"/>
            <a:ext cx="1678495" cy="3086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reserve less space</a:t>
            </a:r>
            <a:endParaRPr b="0" i="0" sz="900" u="none" cap="none" strike="noStrike">
              <a:solidFill>
                <a:schemeClr val="dk1"/>
              </a:solidFill>
              <a:latin typeface="Calibri"/>
              <a:ea typeface="Calibri"/>
              <a:cs typeface="Calibri"/>
              <a:sym typeface="Calibri"/>
            </a:endParaRPr>
          </a:p>
        </p:txBody>
      </p:sp>
      <p:cxnSp>
        <p:nvCxnSpPr>
          <p:cNvPr id="212" name="Google Shape;212;p20"/>
          <p:cNvCxnSpPr/>
          <p:nvPr/>
        </p:nvCxnSpPr>
        <p:spPr>
          <a:xfrm>
            <a:off x="6612827" y="2571750"/>
            <a:ext cx="233172" cy="0"/>
          </a:xfrm>
          <a:prstGeom prst="straightConnector1">
            <a:avLst/>
          </a:prstGeom>
          <a:noFill/>
          <a:ln cap="flat" cmpd="sng" w="28575">
            <a:solidFill>
              <a:srgbClr val="9AA3B2"/>
            </a:solidFill>
            <a:prstDash val="solid"/>
            <a:round/>
            <a:headEnd len="sm" w="sm" type="none"/>
            <a:tailEnd len="med" w="med" type="triangle"/>
          </a:ln>
        </p:spPr>
      </p:cxnSp>
      <p:sp>
        <p:nvSpPr>
          <p:cNvPr id="213" name="Google Shape;213;p20"/>
          <p:cNvSpPr/>
          <p:nvPr/>
        </p:nvSpPr>
        <p:spPr>
          <a:xfrm>
            <a:off x="6900863" y="1885950"/>
            <a:ext cx="1815656" cy="1371600"/>
          </a:xfrm>
          <a:prstGeom prst="roundRect">
            <a:avLst>
              <a:gd fmla="val 4500"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0"/>
          <p:cNvSpPr/>
          <p:nvPr/>
        </p:nvSpPr>
        <p:spPr>
          <a:xfrm>
            <a:off x="7589234" y="2077974"/>
            <a:ext cx="438912" cy="438912"/>
          </a:xfrm>
          <a:prstGeom prst="ellipse">
            <a:avLst/>
          </a:prstGeom>
          <a:solidFill>
            <a:srgbClr val="E1F2E8"/>
          </a:solidFill>
          <a:ln cap="flat" cmpd="sng" w="19050">
            <a:solidFill>
              <a:srgbClr val="2E9E5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0"/>
          <p:cNvSpPr/>
          <p:nvPr/>
        </p:nvSpPr>
        <p:spPr>
          <a:xfrm>
            <a:off x="7589234" y="207797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1700"/>
              <a:buFont typeface="Cambria"/>
              <a:buNone/>
            </a:pPr>
            <a:r>
              <a:rPr b="1" i="0" lang="en" sz="1700" u="none" cap="none" strike="noStrike">
                <a:solidFill>
                  <a:srgbClr val="2E9E5B"/>
                </a:solidFill>
                <a:latin typeface="Cambria"/>
                <a:ea typeface="Cambria"/>
                <a:cs typeface="Cambria"/>
                <a:sym typeface="Cambria"/>
              </a:rPr>
              <a:t>4</a:t>
            </a:r>
            <a:endParaRPr b="0" i="0" sz="1700" u="none" cap="none" strike="noStrike">
              <a:solidFill>
                <a:schemeClr val="dk1"/>
              </a:solidFill>
              <a:latin typeface="Calibri"/>
              <a:ea typeface="Calibri"/>
              <a:cs typeface="Calibri"/>
              <a:sym typeface="Calibri"/>
            </a:endParaRPr>
          </a:p>
        </p:txBody>
      </p:sp>
      <p:sp>
        <p:nvSpPr>
          <p:cNvPr id="216" name="Google Shape;216;p20"/>
          <p:cNvSpPr/>
          <p:nvPr/>
        </p:nvSpPr>
        <p:spPr>
          <a:xfrm>
            <a:off x="6900863" y="2606040"/>
            <a:ext cx="181565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1400"/>
              <a:buFont typeface="Cambria"/>
              <a:buNone/>
            </a:pPr>
            <a:r>
              <a:rPr b="1" i="0" lang="en" sz="1400" u="none" cap="none" strike="noStrike">
                <a:solidFill>
                  <a:srgbClr val="1C2233"/>
                </a:solidFill>
                <a:latin typeface="Cambria"/>
                <a:ea typeface="Cambria"/>
                <a:cs typeface="Cambria"/>
                <a:sym typeface="Cambria"/>
              </a:rPr>
              <a:t>Remap</a:t>
            </a:r>
            <a:endParaRPr b="0" i="0" sz="1400" u="none" cap="none" strike="noStrike">
              <a:solidFill>
                <a:schemeClr val="dk1"/>
              </a:solidFill>
              <a:latin typeface="Calibri"/>
              <a:ea typeface="Calibri"/>
              <a:cs typeface="Calibri"/>
              <a:sym typeface="Calibri"/>
            </a:endParaRPr>
          </a:p>
        </p:txBody>
      </p:sp>
      <p:sp>
        <p:nvSpPr>
          <p:cNvPr id="217" name="Google Shape;217;p20"/>
          <p:cNvSpPr/>
          <p:nvPr/>
        </p:nvSpPr>
        <p:spPr>
          <a:xfrm>
            <a:off x="6969442" y="2900934"/>
            <a:ext cx="1678496" cy="30861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build the local→global map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1"/>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E7A29"/>
              </a:buClr>
              <a:buSzPts val="900"/>
              <a:buFont typeface="Calibri"/>
              <a:buNone/>
            </a:pPr>
            <a:r>
              <a:rPr b="1" i="0" lang="en" sz="900" u="none" cap="none" strike="noStrike">
                <a:solidFill>
                  <a:srgbClr val="DE7A29"/>
                </a:solidFill>
                <a:latin typeface="Calibri"/>
                <a:ea typeface="Calibri"/>
                <a:cs typeface="Calibri"/>
                <a:sym typeface="Calibri"/>
              </a:rPr>
              <a:t>STEPS 1–2</a:t>
            </a:r>
            <a:endParaRPr b="0" i="0" sz="900" u="none" cap="none" strike="noStrike">
              <a:solidFill>
                <a:schemeClr val="dk1"/>
              </a:solidFill>
              <a:latin typeface="Calibri"/>
              <a:ea typeface="Calibri"/>
              <a:cs typeface="Calibri"/>
              <a:sym typeface="Calibri"/>
            </a:endParaRPr>
          </a:p>
        </p:txBody>
      </p:sp>
      <p:sp>
        <p:nvSpPr>
          <p:cNvPr id="224" name="Google Shape;224;p21"/>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Scan the entries, flag the duplicates</a:t>
            </a:r>
            <a:endParaRPr b="0" i="0" sz="2400" u="none" cap="none" strike="noStrike">
              <a:solidFill>
                <a:schemeClr val="dk1"/>
              </a:solidFill>
              <a:latin typeface="Calibri"/>
              <a:ea typeface="Calibri"/>
              <a:cs typeface="Calibri"/>
              <a:sym typeface="Calibri"/>
            </a:endParaRPr>
          </a:p>
        </p:txBody>
      </p:sp>
      <p:sp>
        <p:nvSpPr>
          <p:cNvPr id="225" name="Google Shape;225;p21"/>
          <p:cNvSpPr/>
          <p:nvPr/>
        </p:nvSpPr>
        <p:spPr>
          <a:xfrm>
            <a:off x="425196" y="1611630"/>
            <a:ext cx="5074920" cy="342900"/>
          </a:xfrm>
          <a:prstGeom prst="rect">
            <a:avLst/>
          </a:prstGeom>
          <a:solidFill>
            <a:srgbClr val="3A4A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21"/>
          <p:cNvSpPr/>
          <p:nvPr/>
        </p:nvSpPr>
        <p:spPr>
          <a:xfrm>
            <a:off x="562356" y="1611630"/>
            <a:ext cx="24003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B’s SLoc file entries</a:t>
            </a:r>
            <a:endParaRPr b="0" i="0" sz="1000" u="none" cap="none" strike="noStrike">
              <a:solidFill>
                <a:schemeClr val="dk1"/>
              </a:solidFill>
              <a:latin typeface="Calibri"/>
              <a:ea typeface="Calibri"/>
              <a:cs typeface="Calibri"/>
              <a:sym typeface="Calibri"/>
            </a:endParaRPr>
          </a:p>
        </p:txBody>
      </p:sp>
      <p:sp>
        <p:nvSpPr>
          <p:cNvPr id="227" name="Google Shape;227;p21"/>
          <p:cNvSpPr/>
          <p:nvPr/>
        </p:nvSpPr>
        <p:spPr>
          <a:xfrm>
            <a:off x="3099816" y="1611630"/>
            <a:ext cx="22631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identity check</a:t>
            </a:r>
            <a:endParaRPr b="0" i="0" sz="1000" u="none" cap="none" strike="noStrike">
              <a:solidFill>
                <a:schemeClr val="dk1"/>
              </a:solidFill>
              <a:latin typeface="Calibri"/>
              <a:ea typeface="Calibri"/>
              <a:cs typeface="Calibri"/>
              <a:sym typeface="Calibri"/>
            </a:endParaRPr>
          </a:p>
        </p:txBody>
      </p:sp>
      <p:sp>
        <p:nvSpPr>
          <p:cNvPr id="228" name="Google Shape;228;p21"/>
          <p:cNvSpPr/>
          <p:nvPr/>
        </p:nvSpPr>
        <p:spPr>
          <a:xfrm>
            <a:off x="425196" y="1954530"/>
            <a:ext cx="5074920" cy="493776"/>
          </a:xfrm>
          <a:prstGeom prst="rect">
            <a:avLst/>
          </a:prstGeom>
          <a:solidFill>
            <a:srgbClr val="FFFFFF"/>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21"/>
          <p:cNvSpPr/>
          <p:nvPr/>
        </p:nvSpPr>
        <p:spPr>
          <a:xfrm>
            <a:off x="562356" y="2036826"/>
            <a:ext cx="857250" cy="329184"/>
          </a:xfrm>
          <a:prstGeom prst="roundRect">
            <a:avLst>
              <a:gd fmla="val 16667" name="adj"/>
            </a:avLst>
          </a:prstGeom>
          <a:solidFill>
            <a:srgbClr val="FAEBD9"/>
          </a:solidFill>
          <a:ln cap="flat" cmpd="sng" w="19050">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1"/>
          <p:cNvSpPr/>
          <p:nvPr/>
        </p:nvSpPr>
        <p:spPr>
          <a:xfrm>
            <a:off x="562356" y="2036826"/>
            <a:ext cx="85725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1" i="0" lang="en" sz="1000" u="none" cap="none" strike="noStrike">
                <a:solidFill>
                  <a:srgbClr val="DE7A29"/>
                </a:solidFill>
                <a:latin typeface="Courier New"/>
                <a:ea typeface="Courier New"/>
                <a:cs typeface="Courier New"/>
                <a:sym typeface="Courier New"/>
              </a:rPr>
              <a:t>b.h</a:t>
            </a:r>
            <a:endParaRPr b="0" i="0" sz="1000" u="none" cap="none" strike="noStrike">
              <a:solidFill>
                <a:schemeClr val="dk1"/>
              </a:solidFill>
              <a:latin typeface="Calibri"/>
              <a:ea typeface="Calibri"/>
              <a:cs typeface="Calibri"/>
              <a:sym typeface="Calibri"/>
            </a:endParaRPr>
          </a:p>
        </p:txBody>
      </p:sp>
      <p:sp>
        <p:nvSpPr>
          <p:cNvPr id="231" name="Google Shape;231;p21"/>
          <p:cNvSpPr/>
          <p:nvPr/>
        </p:nvSpPr>
        <p:spPr>
          <a:xfrm>
            <a:off x="1591056" y="1954530"/>
            <a:ext cx="17830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900"/>
              <a:buFont typeface="Calibri"/>
              <a:buNone/>
            </a:pPr>
            <a:r>
              <a:rPr b="0" i="1" lang="en" sz="900" u="none" cap="none" strike="noStrike">
                <a:solidFill>
                  <a:srgbClr val="5E6675"/>
                </a:solidFill>
                <a:latin typeface="Calibri"/>
                <a:ea typeface="Calibri"/>
                <a:cs typeface="Calibri"/>
                <a:sym typeface="Calibri"/>
              </a:rPr>
              <a:t>new</a:t>
            </a:r>
            <a:endParaRPr b="0" i="0" sz="900" u="none" cap="none" strike="noStrike">
              <a:solidFill>
                <a:schemeClr val="dk1"/>
              </a:solidFill>
              <a:latin typeface="Calibri"/>
              <a:ea typeface="Calibri"/>
              <a:cs typeface="Calibri"/>
              <a:sym typeface="Calibri"/>
            </a:endParaRPr>
          </a:p>
        </p:txBody>
      </p:sp>
      <p:sp>
        <p:nvSpPr>
          <p:cNvPr id="232" name="Google Shape;232;p21"/>
          <p:cNvSpPr/>
          <p:nvPr/>
        </p:nvSpPr>
        <p:spPr>
          <a:xfrm>
            <a:off x="4299966" y="1954530"/>
            <a:ext cx="1062990" cy="493776"/>
          </a:xfrm>
          <a:prstGeom prst="rect">
            <a:avLst/>
          </a:prstGeom>
          <a:noFill/>
          <a:ln>
            <a:noFill/>
          </a:ln>
        </p:spPr>
        <p:txBody>
          <a:bodyPr anchorCtr="0" anchor="ctr" bIns="475" lIns="475" spcFirstLastPara="1" rIns="475" wrap="square" tIns="475">
            <a:noAutofit/>
          </a:bodyPr>
          <a:lstStyle/>
          <a:p>
            <a:pPr indent="0" lvl="0" marL="0" marR="0" rtl="0" algn="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keep</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25196" y="2448306"/>
            <a:ext cx="5074920" cy="493776"/>
          </a:xfrm>
          <a:prstGeom prst="rect">
            <a:avLst/>
          </a:prstGeom>
          <a:solidFill>
            <a:srgbClr val="FBE6E2"/>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1"/>
          <p:cNvSpPr/>
          <p:nvPr/>
        </p:nvSpPr>
        <p:spPr>
          <a:xfrm>
            <a:off x="562356" y="2530602"/>
            <a:ext cx="857250" cy="329184"/>
          </a:xfrm>
          <a:prstGeom prst="roundRect">
            <a:avLst>
              <a:gd fmla="val 16667" name="adj"/>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21"/>
          <p:cNvSpPr/>
          <p:nvPr/>
        </p:nvSpPr>
        <p:spPr>
          <a:xfrm>
            <a:off x="562356" y="2530602"/>
            <a:ext cx="85725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1"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236" name="Google Shape;236;p21"/>
          <p:cNvSpPr/>
          <p:nvPr/>
        </p:nvSpPr>
        <p:spPr>
          <a:xfrm>
            <a:off x="1591056" y="2448306"/>
            <a:ext cx="17830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4C3B"/>
              </a:buClr>
              <a:buSzPts val="900"/>
              <a:buFont typeface="Calibri"/>
              <a:buNone/>
            </a:pPr>
            <a:r>
              <a:rPr b="0" i="1" lang="en" sz="900" u="none" cap="none" strike="noStrike">
                <a:solidFill>
                  <a:srgbClr val="CE4C3B"/>
                </a:solidFill>
                <a:latin typeface="Calibri"/>
                <a:ea typeface="Calibri"/>
                <a:cs typeface="Calibri"/>
                <a:sym typeface="Calibri"/>
              </a:rPr>
              <a:t>already loaded (from A)</a:t>
            </a:r>
            <a:endParaRPr b="0" i="0" sz="900" u="none" cap="none" strike="noStrike">
              <a:solidFill>
                <a:schemeClr val="dk1"/>
              </a:solidFill>
              <a:latin typeface="Calibri"/>
              <a:ea typeface="Calibri"/>
              <a:cs typeface="Calibri"/>
              <a:sym typeface="Calibri"/>
            </a:endParaRPr>
          </a:p>
        </p:txBody>
      </p:sp>
      <p:sp>
        <p:nvSpPr>
          <p:cNvPr id="237" name="Google Shape;237;p21"/>
          <p:cNvSpPr/>
          <p:nvPr/>
        </p:nvSpPr>
        <p:spPr>
          <a:xfrm>
            <a:off x="4299966" y="2448306"/>
            <a:ext cx="1062990" cy="493776"/>
          </a:xfrm>
          <a:prstGeom prst="rect">
            <a:avLst/>
          </a:prstGeom>
          <a:noFill/>
          <a:ln>
            <a:noFill/>
          </a:ln>
        </p:spPr>
        <p:txBody>
          <a:bodyPr anchorCtr="0" anchor="ctr" bIns="475" lIns="475" spcFirstLastPara="1" rIns="475" wrap="square" tIns="475">
            <a:noAutofit/>
          </a:bodyPr>
          <a:lstStyle/>
          <a:p>
            <a:pPr indent="0" lvl="0" marL="0" marR="0" rtl="0" algn="r">
              <a:spcBef>
                <a:spcPts val="0"/>
              </a:spcBef>
              <a:spcAft>
                <a:spcPts val="0"/>
              </a:spcAft>
              <a:buClr>
                <a:srgbClr val="CE4C3B"/>
              </a:buClr>
              <a:buSzPts val="1000"/>
              <a:buFont typeface="Calibri"/>
              <a:buNone/>
            </a:pPr>
            <a:r>
              <a:rPr b="1" i="0" lang="en" sz="1000" u="none" cap="none" strike="noStrike">
                <a:solidFill>
                  <a:srgbClr val="CE4C3B"/>
                </a:solidFill>
                <a:latin typeface="Calibri"/>
                <a:ea typeface="Calibri"/>
                <a:cs typeface="Calibri"/>
                <a:sym typeface="Calibri"/>
              </a:rPr>
              <a:t>duplicate</a:t>
            </a:r>
            <a:endParaRPr b="0" i="0" sz="1000" u="none" cap="none" strike="noStrike">
              <a:solidFill>
                <a:schemeClr val="dk1"/>
              </a:solidFill>
              <a:latin typeface="Calibri"/>
              <a:ea typeface="Calibri"/>
              <a:cs typeface="Calibri"/>
              <a:sym typeface="Calibri"/>
            </a:endParaRPr>
          </a:p>
        </p:txBody>
      </p:sp>
      <p:sp>
        <p:nvSpPr>
          <p:cNvPr id="238" name="Google Shape;238;p21"/>
          <p:cNvSpPr/>
          <p:nvPr/>
        </p:nvSpPr>
        <p:spPr>
          <a:xfrm>
            <a:off x="425196" y="2942082"/>
            <a:ext cx="5074920" cy="493776"/>
          </a:xfrm>
          <a:prstGeom prst="rect">
            <a:avLst/>
          </a:prstGeom>
          <a:solidFill>
            <a:srgbClr val="FFFFFF"/>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21"/>
          <p:cNvSpPr/>
          <p:nvPr/>
        </p:nvSpPr>
        <p:spPr>
          <a:xfrm>
            <a:off x="562356" y="3024378"/>
            <a:ext cx="857250" cy="329184"/>
          </a:xfrm>
          <a:prstGeom prst="roundRect">
            <a:avLst>
              <a:gd fmla="val 16667" name="adj"/>
            </a:avLst>
          </a:prstGeom>
          <a:solidFill>
            <a:srgbClr val="EEF2F7"/>
          </a:solidFill>
          <a:ln cap="flat" cmpd="sng" w="19050">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1"/>
          <p:cNvSpPr/>
          <p:nvPr/>
        </p:nvSpPr>
        <p:spPr>
          <a:xfrm>
            <a:off x="562356" y="3024378"/>
            <a:ext cx="85725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ourier New"/>
              <a:buNone/>
            </a:pPr>
            <a:r>
              <a:rPr b="1" i="0" lang="en" sz="1000" u="none" cap="none" strike="noStrike">
                <a:solidFill>
                  <a:srgbClr val="3A4A63"/>
                </a:solidFill>
                <a:latin typeface="Courier New"/>
                <a:ea typeface="Courier New"/>
                <a:cs typeface="Courier New"/>
                <a:sym typeface="Courier New"/>
              </a:rPr>
              <a:t>main.cpp</a:t>
            </a:r>
            <a:endParaRPr b="0" i="0" sz="1000" u="none" cap="none" strike="noStrike">
              <a:solidFill>
                <a:schemeClr val="dk1"/>
              </a:solidFill>
              <a:latin typeface="Calibri"/>
              <a:ea typeface="Calibri"/>
              <a:cs typeface="Calibri"/>
              <a:sym typeface="Calibri"/>
            </a:endParaRPr>
          </a:p>
        </p:txBody>
      </p:sp>
      <p:sp>
        <p:nvSpPr>
          <p:cNvPr id="241" name="Google Shape;241;p21"/>
          <p:cNvSpPr/>
          <p:nvPr/>
        </p:nvSpPr>
        <p:spPr>
          <a:xfrm>
            <a:off x="1591056" y="2942082"/>
            <a:ext cx="17830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900"/>
              <a:buFont typeface="Calibri"/>
              <a:buNone/>
            </a:pPr>
            <a:r>
              <a:rPr b="0" i="1" lang="en" sz="900" u="none" cap="none" strike="noStrike">
                <a:solidFill>
                  <a:srgbClr val="5E6675"/>
                </a:solidFill>
                <a:latin typeface="Calibri"/>
                <a:ea typeface="Calibri"/>
                <a:cs typeface="Calibri"/>
                <a:sym typeface="Calibri"/>
              </a:rPr>
              <a:t>new</a:t>
            </a:r>
            <a:endParaRPr b="0" i="0" sz="900" u="none" cap="none" strike="noStrike">
              <a:solidFill>
                <a:schemeClr val="dk1"/>
              </a:solidFill>
              <a:latin typeface="Calibri"/>
              <a:ea typeface="Calibri"/>
              <a:cs typeface="Calibri"/>
              <a:sym typeface="Calibri"/>
            </a:endParaRPr>
          </a:p>
        </p:txBody>
      </p:sp>
      <p:sp>
        <p:nvSpPr>
          <p:cNvPr id="242" name="Google Shape;242;p21"/>
          <p:cNvSpPr/>
          <p:nvPr/>
        </p:nvSpPr>
        <p:spPr>
          <a:xfrm>
            <a:off x="4299966" y="2942082"/>
            <a:ext cx="1062990" cy="493776"/>
          </a:xfrm>
          <a:prstGeom prst="rect">
            <a:avLst/>
          </a:prstGeom>
          <a:noFill/>
          <a:ln>
            <a:noFill/>
          </a:ln>
        </p:spPr>
        <p:txBody>
          <a:bodyPr anchorCtr="0" anchor="ctr" bIns="475" lIns="475" spcFirstLastPara="1" rIns="475" wrap="square" tIns="475">
            <a:noAutofit/>
          </a:bodyPr>
          <a:lstStyle/>
          <a:p>
            <a:pPr indent="0" lvl="0" marL="0" marR="0" rtl="0" algn="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keep</a:t>
            </a:r>
            <a:endParaRPr b="0" i="0" sz="1000" u="none" cap="none" strike="noStrike">
              <a:solidFill>
                <a:schemeClr val="dk1"/>
              </a:solidFill>
              <a:latin typeface="Calibri"/>
              <a:ea typeface="Calibri"/>
              <a:cs typeface="Calibri"/>
              <a:sym typeface="Calibri"/>
            </a:endParaRPr>
          </a:p>
        </p:txBody>
      </p:sp>
      <p:sp>
        <p:nvSpPr>
          <p:cNvPr id="243" name="Google Shape;243;p21"/>
          <p:cNvSpPr/>
          <p:nvPr/>
        </p:nvSpPr>
        <p:spPr>
          <a:xfrm>
            <a:off x="5877319" y="1831042"/>
            <a:ext cx="2839200" cy="1481400"/>
          </a:xfrm>
          <a:prstGeom prst="roundRect">
            <a:avLst>
              <a:gd fmla="val 4167" name="adj"/>
            </a:avLst>
          </a:prstGeom>
          <a:solidFill>
            <a:srgbClr val="EEF2F7"/>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1"/>
          <p:cNvSpPr/>
          <p:nvPr/>
        </p:nvSpPr>
        <p:spPr>
          <a:xfrm>
            <a:off x="5877306" y="1927099"/>
            <a:ext cx="28392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AA3B2"/>
              </a:buClr>
              <a:buSzPts val="900"/>
              <a:buFont typeface="Calibri"/>
              <a:buNone/>
            </a:pPr>
            <a:r>
              <a:rPr b="1" i="0" lang="en" sz="900" u="none" cap="none" strike="noStrike">
                <a:solidFill>
                  <a:srgbClr val="9AA3B2"/>
                </a:solidFill>
                <a:latin typeface="Calibri"/>
                <a:ea typeface="Calibri"/>
                <a:cs typeface="Calibri"/>
                <a:sym typeface="Calibri"/>
              </a:rPr>
              <a:t>running tally</a:t>
            </a:r>
            <a:endParaRPr b="0" i="0" sz="900" u="none" cap="none" strike="noStrike">
              <a:solidFill>
                <a:schemeClr val="dk1"/>
              </a:solidFill>
              <a:latin typeface="Calibri"/>
              <a:ea typeface="Calibri"/>
              <a:cs typeface="Calibri"/>
              <a:sym typeface="Calibri"/>
            </a:endParaRPr>
          </a:p>
        </p:txBody>
      </p:sp>
      <p:sp>
        <p:nvSpPr>
          <p:cNvPr id="245" name="Google Shape;245;p21"/>
          <p:cNvSpPr/>
          <p:nvPr/>
        </p:nvSpPr>
        <p:spPr>
          <a:xfrm>
            <a:off x="5877306" y="2091743"/>
            <a:ext cx="28392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3000"/>
              <a:buFont typeface="Cambria"/>
              <a:buNone/>
            </a:pPr>
            <a:r>
              <a:rPr b="1" i="0" lang="en" sz="3000" u="none" cap="none" strike="noStrike">
                <a:solidFill>
                  <a:srgbClr val="CE4C3B"/>
                </a:solidFill>
                <a:latin typeface="Cambria"/>
                <a:ea typeface="Cambria"/>
                <a:cs typeface="Cambria"/>
                <a:sym typeface="Cambria"/>
              </a:rPr>
              <a:t>1</a:t>
            </a:r>
            <a:endParaRPr b="0" i="0" sz="3000" u="none" cap="none" strike="noStrike">
              <a:solidFill>
                <a:schemeClr val="dk1"/>
              </a:solidFill>
              <a:latin typeface="Calibri"/>
              <a:ea typeface="Calibri"/>
              <a:cs typeface="Calibri"/>
              <a:sym typeface="Calibri"/>
            </a:endParaRPr>
          </a:p>
        </p:txBody>
      </p:sp>
      <p:sp>
        <p:nvSpPr>
          <p:cNvPr id="246" name="Google Shape;246;p21"/>
          <p:cNvSpPr/>
          <p:nvPr/>
        </p:nvSpPr>
        <p:spPr>
          <a:xfrm>
            <a:off x="5877331" y="2506603"/>
            <a:ext cx="28392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E6675"/>
              </a:buClr>
              <a:buSzPts val="900"/>
              <a:buFont typeface="Calibri"/>
              <a:buNone/>
            </a:pPr>
            <a:r>
              <a:rPr b="0" i="0" lang="en" sz="900" u="none" cap="none" strike="noStrike">
                <a:solidFill>
                  <a:srgbClr val="5E6675"/>
                </a:solidFill>
                <a:latin typeface="Calibri"/>
                <a:ea typeface="Calibri"/>
                <a:cs typeface="Calibri"/>
                <a:sym typeface="Calibri"/>
              </a:rPr>
              <a:t>duplicate entry</a:t>
            </a:r>
            <a:endParaRPr b="0" i="0" sz="900" u="none" cap="none" strike="noStrike">
              <a:solidFill>
                <a:schemeClr val="dk1"/>
              </a:solidFill>
              <a:latin typeface="Calibri"/>
              <a:ea typeface="Calibri"/>
              <a:cs typeface="Calibri"/>
              <a:sym typeface="Calibri"/>
            </a:endParaRPr>
          </a:p>
        </p:txBody>
      </p:sp>
      <p:sp>
        <p:nvSpPr>
          <p:cNvPr id="247" name="Google Shape;247;p21"/>
          <p:cNvSpPr/>
          <p:nvPr/>
        </p:nvSpPr>
        <p:spPr>
          <a:xfrm>
            <a:off x="5877331" y="2784420"/>
            <a:ext cx="2839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1700"/>
              <a:buFont typeface="Cambria"/>
              <a:buNone/>
            </a:pPr>
            <a:r>
              <a:rPr b="1" i="0" lang="en" sz="1700" u="none" cap="none" strike="noStrike">
                <a:solidFill>
                  <a:srgbClr val="1C2233"/>
                </a:solidFill>
                <a:latin typeface="Cambria"/>
                <a:ea typeface="Cambria"/>
                <a:cs typeface="Cambria"/>
                <a:sym typeface="Cambria"/>
              </a:rPr>
              <a:t>50 </a:t>
            </a:r>
            <a:r>
              <a:rPr b="0" i="0" lang="en" sz="1100" u="none" cap="none" strike="noStrike">
                <a:solidFill>
                  <a:srgbClr val="5E6675"/>
                </a:solidFill>
                <a:latin typeface="Calibri"/>
                <a:ea typeface="Calibri"/>
                <a:cs typeface="Calibri"/>
                <a:sym typeface="Calibri"/>
              </a:rPr>
              <a:t>bytes</a:t>
            </a:r>
            <a:endParaRPr b="0" i="0" sz="1700" u="none" cap="none" strike="noStrike">
              <a:solidFill>
                <a:schemeClr val="dk1"/>
              </a:solidFill>
              <a:latin typeface="Calibri"/>
              <a:ea typeface="Calibri"/>
              <a:cs typeface="Calibri"/>
              <a:sym typeface="Calibri"/>
            </a:endParaRPr>
          </a:p>
        </p:txBody>
      </p:sp>
      <p:sp>
        <p:nvSpPr>
          <p:cNvPr id="248" name="Google Shape;248;p21"/>
          <p:cNvSpPr/>
          <p:nvPr/>
        </p:nvSpPr>
        <p:spPr>
          <a:xfrm>
            <a:off x="5877294" y="3086091"/>
            <a:ext cx="28392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would-be duplicate space</a:t>
            </a:r>
            <a:endParaRPr b="0" i="0" sz="900" u="none" cap="none" strike="noStrike">
              <a:solidFill>
                <a:schemeClr val="dk1"/>
              </a:solidFill>
              <a:latin typeface="Calibri"/>
              <a:ea typeface="Calibri"/>
              <a:cs typeface="Calibri"/>
              <a:sym typeface="Calibri"/>
            </a:endParaRPr>
          </a:p>
        </p:txBody>
      </p:sp>
      <p:sp>
        <p:nvSpPr>
          <p:cNvPr id="249" name="Google Shape;249;p21"/>
          <p:cNvSpPr/>
          <p:nvPr/>
        </p:nvSpPr>
        <p:spPr>
          <a:xfrm>
            <a:off x="425196" y="3943350"/>
            <a:ext cx="8291322"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Each entry is given its name + size identity and checked against files already loaded. Matches are flagged, and the space they would have taken is tallied</a:t>
            </a:r>
            <a:r>
              <a:rPr lang="en" sz="1100">
                <a:solidFill>
                  <a:srgbClr val="5E6675"/>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22"/>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F6BEB"/>
              </a:buClr>
              <a:buSzPts val="900"/>
              <a:buFont typeface="Calibri"/>
              <a:buNone/>
            </a:pPr>
            <a:r>
              <a:rPr b="1" i="0" lang="en" sz="900" u="none" cap="none" strike="noStrike">
                <a:solidFill>
                  <a:srgbClr val="2F6BEB"/>
                </a:solidFill>
                <a:latin typeface="Calibri"/>
                <a:ea typeface="Calibri"/>
                <a:cs typeface="Calibri"/>
                <a:sym typeface="Calibri"/>
              </a:rPr>
              <a:t>STEP 3</a:t>
            </a:r>
            <a:endParaRPr b="0" i="0" sz="900" u="none" cap="none" strike="noStrike">
              <a:solidFill>
                <a:schemeClr val="dk1"/>
              </a:solidFill>
              <a:latin typeface="Calibri"/>
              <a:ea typeface="Calibri"/>
              <a:cs typeface="Calibri"/>
              <a:sym typeface="Calibri"/>
            </a:endParaRPr>
          </a:p>
        </p:txBody>
      </p:sp>
      <p:sp>
        <p:nvSpPr>
          <p:cNvPr id="256" name="Google Shape;256;p22"/>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Reserve a smaller range up front</a:t>
            </a:r>
            <a:endParaRPr b="0" i="0" sz="2400" u="none" cap="none" strike="noStrike">
              <a:solidFill>
                <a:schemeClr val="dk1"/>
              </a:solidFill>
              <a:latin typeface="Calibri"/>
              <a:ea typeface="Calibri"/>
              <a:cs typeface="Calibri"/>
              <a:sym typeface="Calibri"/>
            </a:endParaRPr>
          </a:p>
        </p:txBody>
      </p:sp>
      <p:sp>
        <p:nvSpPr>
          <p:cNvPr id="257" name="Google Shape;257;p22"/>
          <p:cNvSpPr/>
          <p:nvPr/>
        </p:nvSpPr>
        <p:spPr>
          <a:xfrm>
            <a:off x="425196" y="1748790"/>
            <a:ext cx="106299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would reserve</a:t>
            </a:r>
            <a:endParaRPr b="0" i="0" sz="1000" u="none" cap="none" strike="noStrike">
              <a:solidFill>
                <a:schemeClr val="dk1"/>
              </a:solidFill>
              <a:latin typeface="Calibri"/>
              <a:ea typeface="Calibri"/>
              <a:cs typeface="Calibri"/>
              <a:sym typeface="Calibri"/>
            </a:endParaRPr>
          </a:p>
        </p:txBody>
      </p:sp>
      <p:sp>
        <p:nvSpPr>
          <p:cNvPr id="258" name="Google Shape;258;p22"/>
          <p:cNvSpPr/>
          <p:nvPr/>
        </p:nvSpPr>
        <p:spPr>
          <a:xfrm>
            <a:off x="1591056" y="1748790"/>
            <a:ext cx="7125462" cy="617220"/>
          </a:xfrm>
          <a:prstGeom prst="roundRect">
            <a:avLst>
              <a:gd fmla="val 5556" name="adj"/>
            </a:avLst>
          </a:prstGeom>
          <a:solidFill>
            <a:srgbClr val="EEF2F7"/>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22"/>
          <p:cNvSpPr/>
          <p:nvPr/>
        </p:nvSpPr>
        <p:spPr>
          <a:xfrm>
            <a:off x="6620794" y="1748790"/>
            <a:ext cx="2095724" cy="617220"/>
          </a:xfrm>
          <a:prstGeom prst="roundRect">
            <a:avLst>
              <a:gd fmla="val 5556" name="adj"/>
            </a:avLst>
          </a:prstGeom>
          <a:solidFill>
            <a:srgbClr val="FBE6E2"/>
          </a:solidFill>
          <a:ln cap="flat" cmpd="sng" w="15875">
            <a:solidFill>
              <a:srgbClr val="CE4C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2"/>
          <p:cNvSpPr/>
          <p:nvPr/>
        </p:nvSpPr>
        <p:spPr>
          <a:xfrm>
            <a:off x="1591056" y="1748790"/>
            <a:ext cx="502973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alibri"/>
              <a:buNone/>
            </a:pPr>
            <a:r>
              <a:rPr b="0" i="0" lang="en" sz="1000" u="none" cap="none" strike="noStrike">
                <a:solidFill>
                  <a:srgbClr val="3A4A63"/>
                </a:solidFill>
                <a:latin typeface="Calibri"/>
                <a:ea typeface="Calibri"/>
                <a:cs typeface="Calibri"/>
                <a:sym typeface="Calibri"/>
              </a:rPr>
              <a:t>SLocSpaceSize</a:t>
            </a:r>
            <a:endParaRPr b="0" i="0" sz="1000" u="none" cap="none" strike="noStrike">
              <a:solidFill>
                <a:schemeClr val="dk1"/>
              </a:solidFill>
              <a:latin typeface="Calibri"/>
              <a:ea typeface="Calibri"/>
              <a:cs typeface="Calibri"/>
              <a:sym typeface="Calibri"/>
            </a:endParaRPr>
          </a:p>
        </p:txBody>
      </p:sp>
      <p:sp>
        <p:nvSpPr>
          <p:cNvPr id="261" name="Google Shape;261;p22"/>
          <p:cNvSpPr/>
          <p:nvPr/>
        </p:nvSpPr>
        <p:spPr>
          <a:xfrm>
            <a:off x="6620794" y="1748790"/>
            <a:ext cx="209572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900"/>
              <a:buFont typeface="Calibri"/>
              <a:buNone/>
            </a:pPr>
            <a:r>
              <a:rPr b="1" i="0" lang="en" sz="900" u="none" cap="none" strike="noStrike">
                <a:solidFill>
                  <a:srgbClr val="CE4C3B"/>
                </a:solidFill>
                <a:latin typeface="Calibri"/>
                <a:ea typeface="Calibri"/>
                <a:cs typeface="Calibri"/>
                <a:sym typeface="Calibri"/>
              </a:rPr>
              <a:t>dup (50 bytes)</a:t>
            </a:r>
            <a:endParaRPr b="0" i="0" sz="900" u="none" cap="none" strike="noStrike">
              <a:solidFill>
                <a:schemeClr val="dk1"/>
              </a:solidFill>
              <a:latin typeface="Calibri"/>
              <a:ea typeface="Calibri"/>
              <a:cs typeface="Calibri"/>
              <a:sym typeface="Calibri"/>
            </a:endParaRPr>
          </a:p>
        </p:txBody>
      </p:sp>
      <p:cxnSp>
        <p:nvCxnSpPr>
          <p:cNvPr id="262" name="Google Shape;262;p22"/>
          <p:cNvCxnSpPr/>
          <p:nvPr/>
        </p:nvCxnSpPr>
        <p:spPr>
          <a:xfrm>
            <a:off x="5153787" y="2448306"/>
            <a:ext cx="0" cy="377190"/>
          </a:xfrm>
          <a:prstGeom prst="straightConnector1">
            <a:avLst/>
          </a:prstGeom>
          <a:noFill/>
          <a:ln cap="flat" cmpd="sng" w="31750">
            <a:solidFill>
              <a:srgbClr val="2E9E5B"/>
            </a:solidFill>
            <a:prstDash val="solid"/>
            <a:round/>
            <a:headEnd len="sm" w="sm" type="none"/>
            <a:tailEnd len="med" w="med" type="triangle"/>
          </a:ln>
        </p:spPr>
      </p:cxnSp>
      <p:sp>
        <p:nvSpPr>
          <p:cNvPr id="263" name="Google Shape;263;p22"/>
          <p:cNvSpPr/>
          <p:nvPr/>
        </p:nvSpPr>
        <p:spPr>
          <a:xfrm>
            <a:off x="5256657" y="2448306"/>
            <a:ext cx="240030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9E5B"/>
              </a:buClr>
              <a:buSzPts val="900"/>
              <a:buFont typeface="Calibri"/>
              <a:buNone/>
            </a:pPr>
            <a:r>
              <a:rPr b="0" i="1" lang="en" sz="900" u="none" cap="none" strike="noStrike">
                <a:solidFill>
                  <a:srgbClr val="2E9E5B"/>
                </a:solidFill>
                <a:latin typeface="Calibri"/>
                <a:ea typeface="Calibri"/>
                <a:cs typeface="Calibri"/>
                <a:sym typeface="Calibri"/>
              </a:rPr>
              <a:t>subtract duplicate bytes</a:t>
            </a:r>
            <a:endParaRPr b="0" i="0" sz="900" u="none" cap="none" strike="noStrike">
              <a:solidFill>
                <a:schemeClr val="dk1"/>
              </a:solidFill>
              <a:latin typeface="Calibri"/>
              <a:ea typeface="Calibri"/>
              <a:cs typeface="Calibri"/>
              <a:sym typeface="Calibri"/>
            </a:endParaRPr>
          </a:p>
        </p:txBody>
      </p:sp>
      <p:sp>
        <p:nvSpPr>
          <p:cNvPr id="264" name="Google Shape;264;p22"/>
          <p:cNvSpPr/>
          <p:nvPr/>
        </p:nvSpPr>
        <p:spPr>
          <a:xfrm>
            <a:off x="425196" y="3017520"/>
            <a:ext cx="106299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actually reserve</a:t>
            </a:r>
            <a:endParaRPr b="0" i="0" sz="1000" u="none" cap="none" strike="noStrike">
              <a:solidFill>
                <a:schemeClr val="dk1"/>
              </a:solidFill>
              <a:latin typeface="Calibri"/>
              <a:ea typeface="Calibri"/>
              <a:cs typeface="Calibri"/>
              <a:sym typeface="Calibri"/>
            </a:endParaRPr>
          </a:p>
        </p:txBody>
      </p:sp>
      <p:sp>
        <p:nvSpPr>
          <p:cNvPr id="265" name="Google Shape;265;p22"/>
          <p:cNvSpPr/>
          <p:nvPr/>
        </p:nvSpPr>
        <p:spPr>
          <a:xfrm>
            <a:off x="1591056" y="3017520"/>
            <a:ext cx="5029738" cy="617220"/>
          </a:xfrm>
          <a:prstGeom prst="roundRect">
            <a:avLst>
              <a:gd fmla="val 5556" name="adj"/>
            </a:avLst>
          </a:prstGeom>
          <a:solidFill>
            <a:srgbClr val="E1F2E8"/>
          </a:solidFill>
          <a:ln cap="flat" cmpd="sng" w="19050">
            <a:solidFill>
              <a:srgbClr val="2E9E5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22"/>
          <p:cNvSpPr/>
          <p:nvPr/>
        </p:nvSpPr>
        <p:spPr>
          <a:xfrm>
            <a:off x="1591056" y="3017520"/>
            <a:ext cx="502973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ReducedSize</a:t>
            </a:r>
            <a:endParaRPr b="0" i="0" sz="1000" u="none" cap="none" strike="noStrike">
              <a:solidFill>
                <a:schemeClr val="dk1"/>
              </a:solidFill>
              <a:latin typeface="Calibri"/>
              <a:ea typeface="Calibri"/>
              <a:cs typeface="Calibri"/>
              <a:sym typeface="Calibri"/>
            </a:endParaRPr>
          </a:p>
        </p:txBody>
      </p:sp>
      <p:sp>
        <p:nvSpPr>
          <p:cNvPr id="267" name="Google Shape;267;p22"/>
          <p:cNvSpPr/>
          <p:nvPr/>
        </p:nvSpPr>
        <p:spPr>
          <a:xfrm>
            <a:off x="6620794" y="3017520"/>
            <a:ext cx="2095724" cy="617220"/>
          </a:xfrm>
          <a:prstGeom prst="roundRect">
            <a:avLst>
              <a:gd fmla="val 5556" name="adj"/>
            </a:avLst>
          </a:prstGeom>
          <a:solidFill>
            <a:srgbClr val="FFFFFF"/>
          </a:solidFill>
          <a:ln cap="flat" cmpd="sng" w="12700">
            <a:solidFill>
              <a:srgbClr val="D6DCE6"/>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p:nvPr/>
        </p:nvSpPr>
        <p:spPr>
          <a:xfrm>
            <a:off x="6620794" y="3017520"/>
            <a:ext cx="209572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alibri"/>
              <a:buNone/>
            </a:pPr>
            <a:r>
              <a:rPr b="0" i="1" lang="en" sz="800" u="none" cap="none" strike="noStrike">
                <a:solidFill>
                  <a:srgbClr val="9AA3B2"/>
                </a:solidFill>
                <a:latin typeface="Calibri"/>
                <a:ea typeface="Calibri"/>
                <a:cs typeface="Calibri"/>
                <a:sym typeface="Calibri"/>
              </a:rPr>
              <a:t>returned</a:t>
            </a:r>
            <a:endParaRPr b="0" i="0" sz="800" u="none" cap="none" strike="noStrike">
              <a:solidFill>
                <a:schemeClr val="dk1"/>
              </a:solidFill>
              <a:latin typeface="Calibri"/>
              <a:ea typeface="Calibri"/>
              <a:cs typeface="Calibri"/>
              <a:sym typeface="Calibri"/>
            </a:endParaRPr>
          </a:p>
        </p:txBody>
      </p:sp>
      <p:sp>
        <p:nvSpPr>
          <p:cNvPr id="269" name="Google Shape;269;p22"/>
          <p:cNvSpPr/>
          <p:nvPr/>
        </p:nvSpPr>
        <p:spPr>
          <a:xfrm>
            <a:off x="425196" y="4046220"/>
            <a:ext cx="8291322" cy="651510"/>
          </a:xfrm>
          <a:prstGeom prst="roundRect">
            <a:avLst>
              <a:gd fmla="val 9474"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2"/>
          <p:cNvSpPr/>
          <p:nvPr/>
        </p:nvSpPr>
        <p:spPr>
          <a:xfrm>
            <a:off x="665226" y="4046220"/>
            <a:ext cx="7811262"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05000"/>
              </a:lnSpc>
              <a:spcBef>
                <a:spcPts val="0"/>
              </a:spcBef>
              <a:spcAft>
                <a:spcPts val="0"/>
              </a:spcAft>
              <a:buClr>
                <a:srgbClr val="1C2233"/>
              </a:buClr>
              <a:buSzPts val="1100"/>
              <a:buFont typeface="Courier New"/>
              <a:buNone/>
            </a:pPr>
            <a:r>
              <a:rPr b="1" i="0" lang="en" sz="1100" u="none" cap="none" strike="noStrike">
                <a:solidFill>
                  <a:srgbClr val="1C2233"/>
                </a:solidFill>
                <a:latin typeface="Courier New"/>
                <a:ea typeface="Courier New"/>
                <a:cs typeface="Courier New"/>
                <a:sym typeface="Courier New"/>
              </a:rPr>
              <a:t>ReducedSize = SLocSpaceSize − duplicate bytes</a:t>
            </a:r>
            <a:r>
              <a:rPr b="0" i="0" lang="en" sz="1000" u="none" cap="none" strike="noStrike">
                <a:solidFill>
                  <a:srgbClr val="5E6675"/>
                </a:solidFill>
                <a:latin typeface="Calibri"/>
                <a:ea typeface="Calibri"/>
                <a:cs typeface="Calibri"/>
                <a:sym typeface="Calibri"/>
              </a:rPr>
              <a:t>     </a:t>
            </a:r>
            <a:endParaRPr b="0" i="0" sz="1000" u="none" cap="none" strike="noStrike">
              <a:solidFill>
                <a:srgbClr val="5E6675"/>
              </a:solidFill>
              <a:latin typeface="Calibri"/>
              <a:ea typeface="Calibri"/>
              <a:cs typeface="Calibri"/>
              <a:sym typeface="Calibri"/>
            </a:endParaRPr>
          </a:p>
          <a:p>
            <a:pPr indent="0" lvl="0" marL="0" marR="0" rtl="0" algn="ctr">
              <a:lnSpc>
                <a:spcPct val="105000"/>
              </a:lnSpc>
              <a:spcBef>
                <a:spcPts val="0"/>
              </a:spcBef>
              <a:spcAft>
                <a:spcPts val="0"/>
              </a:spcAft>
              <a:buClr>
                <a:srgbClr val="1C2233"/>
              </a:buClr>
              <a:buSzPts val="1100"/>
              <a:buFont typeface="Courier New"/>
              <a:buNone/>
            </a:pPr>
            <a:r>
              <a:rPr b="0" i="0" lang="en" sz="1000" u="none" cap="none" strike="noStrike">
                <a:solidFill>
                  <a:srgbClr val="5E6675"/>
                </a:solidFill>
                <a:latin typeface="Calibri"/>
                <a:ea typeface="Calibri"/>
                <a:cs typeface="Calibri"/>
                <a:sym typeface="Calibri"/>
              </a:rPr>
              <a:t>Because the duplicates are already known, the module claims a smaller slice</a:t>
            </a:r>
            <a:r>
              <a:rPr lang="en" sz="1000">
                <a:solidFill>
                  <a:srgbClr val="5E667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3"/>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STEP 4 · BEFORE</a:t>
            </a:r>
            <a:endParaRPr b="0" i="0" sz="900" u="none" cap="none" strike="noStrike">
              <a:solidFill>
                <a:schemeClr val="dk1"/>
              </a:solidFill>
              <a:latin typeface="Calibri"/>
              <a:ea typeface="Calibri"/>
              <a:cs typeface="Calibri"/>
              <a:sym typeface="Calibri"/>
            </a:endParaRPr>
          </a:p>
        </p:txBody>
      </p:sp>
      <p:sp>
        <p:nvSpPr>
          <p:cNvPr id="277" name="Google Shape;277;p23"/>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The old map: one flat shift</a:t>
            </a:r>
            <a:endParaRPr b="0" i="0" sz="2400" u="none" cap="none" strike="noStrike">
              <a:solidFill>
                <a:schemeClr val="dk1"/>
              </a:solidFill>
              <a:latin typeface="Calibri"/>
              <a:ea typeface="Calibri"/>
              <a:cs typeface="Calibri"/>
              <a:sym typeface="Calibri"/>
            </a:endParaRPr>
          </a:p>
        </p:txBody>
      </p:sp>
      <p:sp>
        <p:nvSpPr>
          <p:cNvPr id="278" name="Google Shape;278;p23"/>
          <p:cNvSpPr/>
          <p:nvPr/>
        </p:nvSpPr>
        <p:spPr>
          <a:xfrm>
            <a:off x="459491" y="1483545"/>
            <a:ext cx="322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B’s local locations</a:t>
            </a:r>
            <a:endParaRPr b="0" i="0" sz="900" u="none" cap="none" strike="noStrike">
              <a:solidFill>
                <a:schemeClr val="dk1"/>
              </a:solidFill>
              <a:latin typeface="Calibri"/>
              <a:ea typeface="Calibri"/>
              <a:cs typeface="Calibri"/>
              <a:sym typeface="Calibri"/>
            </a:endParaRPr>
          </a:p>
        </p:txBody>
      </p:sp>
      <p:sp>
        <p:nvSpPr>
          <p:cNvPr id="279" name="Google Shape;279;p23"/>
          <p:cNvSpPr/>
          <p:nvPr/>
        </p:nvSpPr>
        <p:spPr>
          <a:xfrm>
            <a:off x="459491" y="1757865"/>
            <a:ext cx="1074300" cy="685800"/>
          </a:xfrm>
          <a:prstGeom prst="roundRect">
            <a:avLst>
              <a:gd fmla="val 4000"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3"/>
          <p:cNvSpPr/>
          <p:nvPr/>
        </p:nvSpPr>
        <p:spPr>
          <a:xfrm>
            <a:off x="459491" y="1757865"/>
            <a:ext cx="10743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0" i="0" lang="en" sz="1000" u="none" cap="none" strike="noStrike">
                <a:solidFill>
                  <a:srgbClr val="DE7A29"/>
                </a:solidFill>
                <a:latin typeface="Courier New"/>
                <a:ea typeface="Courier New"/>
                <a:cs typeface="Courier New"/>
                <a:sym typeface="Courier New"/>
              </a:rPr>
              <a:t>b.h</a:t>
            </a:r>
            <a:endParaRPr b="0" i="0" sz="1000" u="none" cap="none" strike="noStrike">
              <a:solidFill>
                <a:schemeClr val="dk1"/>
              </a:solidFill>
              <a:latin typeface="Calibri"/>
              <a:ea typeface="Calibri"/>
              <a:cs typeface="Calibri"/>
              <a:sym typeface="Calibri"/>
            </a:endParaRPr>
          </a:p>
        </p:txBody>
      </p:sp>
      <p:sp>
        <p:nvSpPr>
          <p:cNvPr id="281" name="Google Shape;281;p23"/>
          <p:cNvSpPr/>
          <p:nvPr/>
        </p:nvSpPr>
        <p:spPr>
          <a:xfrm>
            <a:off x="1533911" y="1757865"/>
            <a:ext cx="1343100" cy="685800"/>
          </a:xfrm>
          <a:prstGeom prst="roundRect">
            <a:avLst>
              <a:gd fmla="val 4000" name="adj"/>
            </a:avLst>
          </a:prstGeom>
          <a:solidFill>
            <a:srgbClr val="DFF0F0"/>
          </a:solidFill>
          <a:ln cap="flat" cmpd="sng" w="17775">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3"/>
          <p:cNvSpPr/>
          <p:nvPr/>
        </p:nvSpPr>
        <p:spPr>
          <a:xfrm>
            <a:off x="1533911" y="1757865"/>
            <a:ext cx="13431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283" name="Google Shape;283;p23"/>
          <p:cNvSpPr/>
          <p:nvPr/>
        </p:nvSpPr>
        <p:spPr>
          <a:xfrm>
            <a:off x="2876936" y="1757865"/>
            <a:ext cx="805800" cy="685800"/>
          </a:xfrm>
          <a:prstGeom prst="roundRect">
            <a:avLst>
              <a:gd fmla="val 4000"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3"/>
          <p:cNvSpPr/>
          <p:nvPr/>
        </p:nvSpPr>
        <p:spPr>
          <a:xfrm>
            <a:off x="2876936" y="1757865"/>
            <a:ext cx="80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ourier New"/>
              <a:buNone/>
            </a:pPr>
            <a:r>
              <a:rPr b="0" i="0" lang="en" sz="1000" u="none" cap="none" strike="noStrike">
                <a:solidFill>
                  <a:srgbClr val="3A4A63"/>
                </a:solidFill>
                <a:latin typeface="Courier New"/>
                <a:ea typeface="Courier New"/>
                <a:cs typeface="Courier New"/>
                <a:sym typeface="Courier New"/>
              </a:rPr>
              <a:t>…</a:t>
            </a:r>
            <a:endParaRPr b="0" i="0" sz="1000" u="none" cap="none" strike="noStrike">
              <a:solidFill>
                <a:schemeClr val="dk1"/>
              </a:solidFill>
              <a:latin typeface="Calibri"/>
              <a:ea typeface="Calibri"/>
              <a:cs typeface="Calibri"/>
              <a:sym typeface="Calibri"/>
            </a:endParaRPr>
          </a:p>
        </p:txBody>
      </p:sp>
      <p:sp>
        <p:nvSpPr>
          <p:cNvPr id="285" name="Google Shape;285;p23"/>
          <p:cNvSpPr/>
          <p:nvPr/>
        </p:nvSpPr>
        <p:spPr>
          <a:xfrm>
            <a:off x="425201" y="2484813"/>
            <a:ext cx="4116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ourier New"/>
              <a:buNone/>
            </a:pPr>
            <a:r>
              <a:rPr b="0" i="0" lang="en" sz="800" u="none" cap="none" strike="noStrike">
                <a:solidFill>
                  <a:srgbClr val="9AA3B2"/>
                </a:solidFill>
                <a:latin typeface="Courier New"/>
                <a:ea typeface="Courier New"/>
                <a:cs typeface="Courier New"/>
                <a:sym typeface="Courier New"/>
              </a:rPr>
              <a:t>0</a:t>
            </a:r>
            <a:endParaRPr b="0" i="0" sz="800" u="none" cap="none" strike="noStrike">
              <a:solidFill>
                <a:schemeClr val="dk1"/>
              </a:solidFill>
              <a:latin typeface="Calibri"/>
              <a:ea typeface="Calibri"/>
              <a:cs typeface="Calibri"/>
              <a:sym typeface="Calibri"/>
            </a:endParaRPr>
          </a:p>
        </p:txBody>
      </p:sp>
      <p:sp>
        <p:nvSpPr>
          <p:cNvPr id="286" name="Google Shape;286;p23"/>
          <p:cNvSpPr/>
          <p:nvPr/>
        </p:nvSpPr>
        <p:spPr>
          <a:xfrm>
            <a:off x="3305561" y="2484813"/>
            <a:ext cx="4116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ourier New"/>
              <a:buNone/>
            </a:pPr>
            <a:r>
              <a:rPr b="0" i="0" lang="en" sz="800" u="none" cap="none" strike="noStrike">
                <a:solidFill>
                  <a:srgbClr val="9AA3B2"/>
                </a:solidFill>
                <a:latin typeface="Courier New"/>
                <a:ea typeface="Courier New"/>
                <a:cs typeface="Courier New"/>
                <a:sym typeface="Courier New"/>
              </a:rPr>
              <a:t>120</a:t>
            </a:r>
            <a:endParaRPr b="0" i="0" sz="800" u="none" cap="none" strike="noStrike">
              <a:solidFill>
                <a:schemeClr val="dk1"/>
              </a:solidFill>
              <a:latin typeface="Calibri"/>
              <a:ea typeface="Calibri"/>
              <a:cs typeface="Calibri"/>
              <a:sym typeface="Calibri"/>
            </a:endParaRPr>
          </a:p>
        </p:txBody>
      </p:sp>
      <p:sp>
        <p:nvSpPr>
          <p:cNvPr id="287" name="Google Shape;287;p23"/>
          <p:cNvSpPr/>
          <p:nvPr/>
        </p:nvSpPr>
        <p:spPr>
          <a:xfrm>
            <a:off x="3920551" y="1881309"/>
            <a:ext cx="1302900" cy="438900"/>
          </a:xfrm>
          <a:prstGeom prst="roundRect">
            <a:avLst>
              <a:gd fmla="val 46875" name="adj"/>
            </a:avLst>
          </a:prstGeom>
          <a:solidFill>
            <a:srgbClr val="3A4A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3"/>
          <p:cNvSpPr/>
          <p:nvPr/>
        </p:nvSpPr>
        <p:spPr>
          <a:xfrm>
            <a:off x="3871389" y="1881309"/>
            <a:ext cx="13029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ourier New"/>
              <a:buNone/>
            </a:pPr>
            <a:r>
              <a:rPr b="1" i="0" lang="en" sz="1000" u="none" cap="none" strike="noStrike">
                <a:solidFill>
                  <a:srgbClr val="FFFFFF"/>
                </a:solidFill>
                <a:latin typeface="Courier New"/>
                <a:ea typeface="Courier New"/>
                <a:cs typeface="Courier New"/>
                <a:sym typeface="Courier New"/>
              </a:rPr>
              <a:t>+ base offset</a:t>
            </a:r>
            <a:endParaRPr b="0" i="0" sz="1000" u="none" cap="none" strike="noStrike">
              <a:solidFill>
                <a:schemeClr val="dk1"/>
              </a:solidFill>
              <a:latin typeface="Calibri"/>
              <a:ea typeface="Calibri"/>
              <a:cs typeface="Calibri"/>
              <a:sym typeface="Calibri"/>
            </a:endParaRPr>
          </a:p>
        </p:txBody>
      </p:sp>
      <p:cxnSp>
        <p:nvCxnSpPr>
          <p:cNvPr id="289" name="Google Shape;289;p23"/>
          <p:cNvCxnSpPr>
            <a:stCxn id="287" idx="3"/>
          </p:cNvCxnSpPr>
          <p:nvPr/>
        </p:nvCxnSpPr>
        <p:spPr>
          <a:xfrm>
            <a:off x="5223451" y="2100759"/>
            <a:ext cx="516600" cy="0"/>
          </a:xfrm>
          <a:prstGeom prst="straightConnector1">
            <a:avLst/>
          </a:prstGeom>
          <a:noFill/>
          <a:ln cap="flat" cmpd="sng" w="31750">
            <a:solidFill>
              <a:srgbClr val="3A4A63"/>
            </a:solidFill>
            <a:prstDash val="solid"/>
            <a:round/>
            <a:headEnd len="sm" w="sm" type="none"/>
            <a:tailEnd len="med" w="med" type="triangle"/>
          </a:ln>
        </p:spPr>
      </p:cxnSp>
      <p:sp>
        <p:nvSpPr>
          <p:cNvPr id="290" name="Google Shape;290;p23"/>
          <p:cNvSpPr/>
          <p:nvPr/>
        </p:nvSpPr>
        <p:spPr>
          <a:xfrm>
            <a:off x="5808731" y="1483545"/>
            <a:ext cx="31203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global loaded space</a:t>
            </a:r>
            <a:endParaRPr b="0" i="0" sz="900" u="none" cap="none" strike="noStrike">
              <a:solidFill>
                <a:schemeClr val="dk1"/>
              </a:solidFill>
              <a:latin typeface="Calibri"/>
              <a:ea typeface="Calibri"/>
              <a:cs typeface="Calibri"/>
              <a:sym typeface="Calibri"/>
            </a:endParaRPr>
          </a:p>
        </p:txBody>
      </p:sp>
      <p:sp>
        <p:nvSpPr>
          <p:cNvPr id="291" name="Google Shape;291;p23"/>
          <p:cNvSpPr/>
          <p:nvPr/>
        </p:nvSpPr>
        <p:spPr>
          <a:xfrm>
            <a:off x="5808731" y="1757865"/>
            <a:ext cx="1040100" cy="685800"/>
          </a:xfrm>
          <a:prstGeom prst="roundRect">
            <a:avLst>
              <a:gd fmla="val 4000"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23"/>
          <p:cNvSpPr/>
          <p:nvPr/>
        </p:nvSpPr>
        <p:spPr>
          <a:xfrm>
            <a:off x="5808731" y="1757865"/>
            <a:ext cx="10401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0" i="0" lang="en" sz="1000" u="none" cap="none" strike="noStrike">
                <a:solidFill>
                  <a:srgbClr val="DE7A29"/>
                </a:solidFill>
                <a:latin typeface="Courier New"/>
                <a:ea typeface="Courier New"/>
                <a:cs typeface="Courier New"/>
                <a:sym typeface="Courier New"/>
              </a:rPr>
              <a:t>b.h</a:t>
            </a:r>
            <a:endParaRPr b="0" i="0" sz="1000" u="none" cap="none" strike="noStrike">
              <a:solidFill>
                <a:schemeClr val="dk1"/>
              </a:solidFill>
              <a:latin typeface="Calibri"/>
              <a:ea typeface="Calibri"/>
              <a:cs typeface="Calibri"/>
              <a:sym typeface="Calibri"/>
            </a:endParaRPr>
          </a:p>
        </p:txBody>
      </p:sp>
      <p:sp>
        <p:nvSpPr>
          <p:cNvPr id="293" name="Google Shape;293;p23"/>
          <p:cNvSpPr/>
          <p:nvPr/>
        </p:nvSpPr>
        <p:spPr>
          <a:xfrm>
            <a:off x="6848861" y="1757865"/>
            <a:ext cx="1300200" cy="685800"/>
          </a:xfrm>
          <a:prstGeom prst="roundRect">
            <a:avLst>
              <a:gd fmla="val 4000" name="adj"/>
            </a:avLst>
          </a:prstGeom>
          <a:solidFill>
            <a:srgbClr val="DFF0F0"/>
          </a:solidFill>
          <a:ln cap="flat" cmpd="sng" w="17775">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3"/>
          <p:cNvSpPr/>
          <p:nvPr/>
        </p:nvSpPr>
        <p:spPr>
          <a:xfrm>
            <a:off x="6848861" y="1757865"/>
            <a:ext cx="1300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295" name="Google Shape;295;p23"/>
          <p:cNvSpPr/>
          <p:nvPr/>
        </p:nvSpPr>
        <p:spPr>
          <a:xfrm>
            <a:off x="8149024" y="1757865"/>
            <a:ext cx="780000" cy="685800"/>
          </a:xfrm>
          <a:prstGeom prst="roundRect">
            <a:avLst>
              <a:gd fmla="val 4000"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3"/>
          <p:cNvSpPr/>
          <p:nvPr/>
        </p:nvSpPr>
        <p:spPr>
          <a:xfrm>
            <a:off x="8149024" y="1757865"/>
            <a:ext cx="7800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ourier New"/>
              <a:buNone/>
            </a:pPr>
            <a:r>
              <a:rPr b="0" i="0" lang="en" sz="1000" u="none" cap="none" strike="noStrike">
                <a:solidFill>
                  <a:srgbClr val="3A4A63"/>
                </a:solidFill>
                <a:latin typeface="Courier New"/>
                <a:ea typeface="Courier New"/>
                <a:cs typeface="Courier New"/>
                <a:sym typeface="Courier New"/>
              </a:rPr>
              <a:t>…</a:t>
            </a:r>
            <a:endParaRPr b="0" i="0" sz="1000" u="none" cap="none" strike="noStrike">
              <a:solidFill>
                <a:schemeClr val="dk1"/>
              </a:solidFill>
              <a:latin typeface="Calibri"/>
              <a:ea typeface="Calibri"/>
              <a:cs typeface="Calibri"/>
              <a:sym typeface="Calibri"/>
            </a:endParaRPr>
          </a:p>
        </p:txBody>
      </p:sp>
      <p:sp>
        <p:nvSpPr>
          <p:cNvPr id="297" name="Google Shape;297;p23"/>
          <p:cNvSpPr/>
          <p:nvPr/>
        </p:nvSpPr>
        <p:spPr>
          <a:xfrm>
            <a:off x="5740151" y="2484813"/>
            <a:ext cx="4800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ourier New"/>
              <a:buNone/>
            </a:pPr>
            <a:r>
              <a:rPr b="0" i="0" lang="en" sz="800" u="none" cap="none" strike="noStrike">
                <a:solidFill>
                  <a:srgbClr val="9AA3B2"/>
                </a:solidFill>
                <a:latin typeface="Courier New"/>
                <a:ea typeface="Courier New"/>
                <a:cs typeface="Courier New"/>
                <a:sym typeface="Courier New"/>
              </a:rPr>
              <a:t>200</a:t>
            </a:r>
            <a:endParaRPr b="0" i="0" sz="800" u="none" cap="none" strike="noStrike">
              <a:solidFill>
                <a:schemeClr val="dk1"/>
              </a:solidFill>
              <a:latin typeface="Calibri"/>
              <a:ea typeface="Calibri"/>
              <a:cs typeface="Calibri"/>
              <a:sym typeface="Calibri"/>
            </a:endParaRPr>
          </a:p>
        </p:txBody>
      </p:sp>
      <p:sp>
        <p:nvSpPr>
          <p:cNvPr id="298" name="Google Shape;298;p23"/>
          <p:cNvSpPr/>
          <p:nvPr/>
        </p:nvSpPr>
        <p:spPr>
          <a:xfrm>
            <a:off x="8517641" y="2484813"/>
            <a:ext cx="4800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800"/>
              <a:buFont typeface="Courier New"/>
              <a:buNone/>
            </a:pPr>
            <a:r>
              <a:rPr b="0" i="0" lang="en" sz="800" u="none" cap="none" strike="noStrike">
                <a:solidFill>
                  <a:srgbClr val="9AA3B2"/>
                </a:solidFill>
                <a:latin typeface="Courier New"/>
                <a:ea typeface="Courier New"/>
                <a:cs typeface="Courier New"/>
                <a:sym typeface="Courier New"/>
              </a:rPr>
              <a:t>320</a:t>
            </a:r>
            <a:endParaRPr b="0" i="0" sz="800" u="none" cap="none" strike="noStrike">
              <a:solidFill>
                <a:schemeClr val="dk1"/>
              </a:solidFill>
              <a:latin typeface="Calibri"/>
              <a:ea typeface="Calibri"/>
              <a:cs typeface="Calibri"/>
              <a:sym typeface="Calibri"/>
            </a:endParaRPr>
          </a:p>
        </p:txBody>
      </p:sp>
      <p:sp>
        <p:nvSpPr>
          <p:cNvPr id="299" name="Google Shape;299;p23"/>
          <p:cNvSpPr/>
          <p:nvPr/>
        </p:nvSpPr>
        <p:spPr>
          <a:xfrm>
            <a:off x="425196" y="3806190"/>
            <a:ext cx="8291322" cy="754380"/>
          </a:xfrm>
          <a:prstGeom prst="roundRect">
            <a:avLst>
              <a:gd fmla="val 8182"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23"/>
          <p:cNvSpPr/>
          <p:nvPr/>
        </p:nvSpPr>
        <p:spPr>
          <a:xfrm>
            <a:off x="665226" y="3806190"/>
            <a:ext cx="7811262" cy="754380"/>
          </a:xfrm>
          <a:prstGeom prst="rect">
            <a:avLst/>
          </a:prstGeom>
          <a:noFill/>
          <a:ln>
            <a:noFill/>
          </a:ln>
        </p:spPr>
        <p:txBody>
          <a:bodyPr anchorCtr="0" anchor="ctr" bIns="34275" lIns="68575" spcFirstLastPara="1" rIns="68575" wrap="square" tIns="34275">
            <a:noAutofit/>
          </a:bodyPr>
          <a:lstStyle/>
          <a:p>
            <a:pPr indent="0" lvl="0" marL="0" marR="0" rtl="0" algn="ctr">
              <a:lnSpc>
                <a:spcPct val="105000"/>
              </a:lnSpc>
              <a:spcBef>
                <a:spcPts val="0"/>
              </a:spcBef>
              <a:spcAft>
                <a:spcPts val="0"/>
              </a:spcAft>
              <a:buClr>
                <a:srgbClr val="1C2233"/>
              </a:buClr>
              <a:buSzPts val="1100"/>
              <a:buFont typeface="Courier New"/>
              <a:buNone/>
            </a:pPr>
            <a:r>
              <a:rPr b="1" i="0" lang="en" sz="1100" u="none" cap="none" strike="noStrike">
                <a:solidFill>
                  <a:srgbClr val="1C2233"/>
                </a:solidFill>
                <a:latin typeface="Courier New"/>
                <a:ea typeface="Courier New"/>
                <a:cs typeface="Courier New"/>
                <a:sym typeface="Courier New"/>
              </a:rPr>
              <a:t>global = local + baseOffset.</a:t>
            </a:r>
            <a:r>
              <a:rPr b="1" lang="en" sz="1100">
                <a:solidFill>
                  <a:srgbClr val="1C2233"/>
                </a:solidFill>
                <a:latin typeface="Courier New"/>
                <a:ea typeface="Courier New"/>
                <a:cs typeface="Courier New"/>
                <a:sym typeface="Courier New"/>
              </a:rPr>
              <a:t> </a:t>
            </a:r>
            <a:r>
              <a:rPr b="0" i="0" lang="en" sz="1100" u="none" cap="none" strike="noStrike">
                <a:solidFill>
                  <a:srgbClr val="5E6675"/>
                </a:solidFill>
                <a:latin typeface="Calibri"/>
                <a:ea typeface="Calibri"/>
                <a:cs typeface="Calibri"/>
                <a:sym typeface="Calibri"/>
              </a:rPr>
              <a:t>A module’s entries were one contiguous block, so a single add slid the whole block into loaded space.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4"/>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STEP 4 · BEFORE</a:t>
            </a:r>
            <a:endParaRPr b="0" i="0" sz="900" u="none" cap="none" strike="noStrike">
              <a:solidFill>
                <a:schemeClr val="dk1"/>
              </a:solidFill>
              <a:latin typeface="Calibri"/>
              <a:ea typeface="Calibri"/>
              <a:cs typeface="Calibri"/>
              <a:sym typeface="Calibri"/>
            </a:endParaRPr>
          </a:p>
        </p:txBody>
      </p:sp>
      <p:sp>
        <p:nvSpPr>
          <p:cNvPr id="307" name="Google Shape;307;p24"/>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A location, the old way</a:t>
            </a:r>
            <a:endParaRPr b="0" i="0" sz="2400" u="none" cap="none" strike="noStrike">
              <a:solidFill>
                <a:schemeClr val="dk1"/>
              </a:solidFill>
              <a:latin typeface="Calibri"/>
              <a:ea typeface="Calibri"/>
              <a:cs typeface="Calibri"/>
              <a:sym typeface="Calibri"/>
            </a:endParaRPr>
          </a:p>
        </p:txBody>
      </p:sp>
      <p:sp>
        <p:nvSpPr>
          <p:cNvPr id="308" name="Google Shape;308;p24"/>
          <p:cNvSpPr/>
          <p:nvPr/>
        </p:nvSpPr>
        <p:spPr>
          <a:xfrm>
            <a:off x="699516" y="1611630"/>
            <a:ext cx="32232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B’s local locations</a:t>
            </a:r>
            <a:endParaRPr b="0" i="0" sz="900" u="none" cap="none" strike="noStrike">
              <a:solidFill>
                <a:schemeClr val="dk1"/>
              </a:solidFill>
              <a:latin typeface="Calibri"/>
              <a:ea typeface="Calibri"/>
              <a:cs typeface="Calibri"/>
              <a:sym typeface="Calibri"/>
            </a:endParaRPr>
          </a:p>
        </p:txBody>
      </p:sp>
      <p:sp>
        <p:nvSpPr>
          <p:cNvPr id="309" name="Google Shape;309;p24"/>
          <p:cNvSpPr/>
          <p:nvPr/>
        </p:nvSpPr>
        <p:spPr>
          <a:xfrm>
            <a:off x="699516" y="1885950"/>
            <a:ext cx="1074420" cy="685800"/>
          </a:xfrm>
          <a:prstGeom prst="roundRect">
            <a:avLst>
              <a:gd fmla="val 4000"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24"/>
          <p:cNvSpPr/>
          <p:nvPr/>
        </p:nvSpPr>
        <p:spPr>
          <a:xfrm>
            <a:off x="699516" y="1885950"/>
            <a:ext cx="10744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0" i="0" lang="en" sz="1000" u="none" cap="none" strike="noStrike">
                <a:solidFill>
                  <a:srgbClr val="DE7A29"/>
                </a:solidFill>
                <a:latin typeface="Courier New"/>
                <a:ea typeface="Courier New"/>
                <a:cs typeface="Courier New"/>
                <a:sym typeface="Courier New"/>
              </a:rPr>
              <a:t>b.h</a:t>
            </a:r>
            <a:endParaRPr b="0" i="0" sz="1000" u="none" cap="none" strike="noStrike">
              <a:solidFill>
                <a:schemeClr val="dk1"/>
              </a:solidFill>
              <a:latin typeface="Calibri"/>
              <a:ea typeface="Calibri"/>
              <a:cs typeface="Calibri"/>
              <a:sym typeface="Calibri"/>
            </a:endParaRPr>
          </a:p>
        </p:txBody>
      </p:sp>
      <p:sp>
        <p:nvSpPr>
          <p:cNvPr id="311" name="Google Shape;311;p24"/>
          <p:cNvSpPr/>
          <p:nvPr/>
        </p:nvSpPr>
        <p:spPr>
          <a:xfrm>
            <a:off x="1773936" y="1885950"/>
            <a:ext cx="1343025" cy="685800"/>
          </a:xfrm>
          <a:prstGeom prst="roundRect">
            <a:avLst>
              <a:gd fmla="val 4000" name="adj"/>
            </a:avLst>
          </a:prstGeom>
          <a:solidFill>
            <a:srgbClr val="DFF0F0"/>
          </a:solidFill>
          <a:ln cap="flat" cmpd="sng" w="17775">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24"/>
          <p:cNvSpPr/>
          <p:nvPr/>
        </p:nvSpPr>
        <p:spPr>
          <a:xfrm>
            <a:off x="1773936" y="1885950"/>
            <a:ext cx="1343025"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313" name="Google Shape;313;p24"/>
          <p:cNvSpPr/>
          <p:nvPr/>
        </p:nvSpPr>
        <p:spPr>
          <a:xfrm>
            <a:off x="3116961" y="1885950"/>
            <a:ext cx="805815" cy="685800"/>
          </a:xfrm>
          <a:prstGeom prst="roundRect">
            <a:avLst>
              <a:gd fmla="val 4000"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24"/>
          <p:cNvSpPr/>
          <p:nvPr/>
        </p:nvSpPr>
        <p:spPr>
          <a:xfrm>
            <a:off x="3116961" y="1885950"/>
            <a:ext cx="805815"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ourier New"/>
              <a:buNone/>
            </a:pPr>
            <a:r>
              <a:rPr b="0" i="0" lang="en" sz="1000" u="none" cap="none" strike="noStrike">
                <a:solidFill>
                  <a:srgbClr val="3A4A63"/>
                </a:solidFill>
                <a:latin typeface="Courier New"/>
                <a:ea typeface="Courier New"/>
                <a:cs typeface="Courier New"/>
                <a:sym typeface="Courier New"/>
              </a:rPr>
              <a:t>…</a:t>
            </a:r>
            <a:endParaRPr b="0" i="0" sz="1000" u="none" cap="none" strike="noStrike">
              <a:solidFill>
                <a:schemeClr val="dk1"/>
              </a:solidFill>
              <a:latin typeface="Calibri"/>
              <a:ea typeface="Calibri"/>
              <a:cs typeface="Calibri"/>
              <a:sym typeface="Calibri"/>
            </a:endParaRPr>
          </a:p>
        </p:txBody>
      </p:sp>
      <p:sp>
        <p:nvSpPr>
          <p:cNvPr id="315" name="Google Shape;315;p24"/>
          <p:cNvSpPr/>
          <p:nvPr/>
        </p:nvSpPr>
        <p:spPr>
          <a:xfrm>
            <a:off x="2370011" y="2153412"/>
            <a:ext cx="150876" cy="150876"/>
          </a:xfrm>
          <a:prstGeom prst="ellipse">
            <a:avLst/>
          </a:prstGeom>
          <a:solidFill>
            <a:srgbClr val="CE4C3B"/>
          </a:solidFill>
          <a:ln cap="flat" cmpd="sng" w="1905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24"/>
          <p:cNvSpPr/>
          <p:nvPr/>
        </p:nvSpPr>
        <p:spPr>
          <a:xfrm>
            <a:off x="1896809" y="2612898"/>
            <a:ext cx="109728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900"/>
              <a:buFont typeface="Courier New"/>
              <a:buNone/>
            </a:pPr>
            <a:r>
              <a:rPr b="1" i="0" lang="en" sz="900" u="none" cap="none" strike="noStrike">
                <a:solidFill>
                  <a:srgbClr val="CE4C3B"/>
                </a:solidFill>
                <a:latin typeface="Courier New"/>
                <a:ea typeface="Courier New"/>
                <a:cs typeface="Courier New"/>
                <a:sym typeface="Courier New"/>
              </a:rPr>
              <a:t>local 65</a:t>
            </a:r>
            <a:endParaRPr b="0" i="0" sz="900" u="none" cap="none" strike="noStrike">
              <a:solidFill>
                <a:schemeClr val="dk1"/>
              </a:solidFill>
              <a:latin typeface="Calibri"/>
              <a:ea typeface="Calibri"/>
              <a:cs typeface="Calibri"/>
              <a:sym typeface="Calibri"/>
            </a:endParaRPr>
          </a:p>
        </p:txBody>
      </p:sp>
      <p:sp>
        <p:nvSpPr>
          <p:cNvPr id="317" name="Google Shape;317;p24"/>
          <p:cNvSpPr/>
          <p:nvPr/>
        </p:nvSpPr>
        <p:spPr>
          <a:xfrm>
            <a:off x="4265676" y="2023110"/>
            <a:ext cx="1165860" cy="411480"/>
          </a:xfrm>
          <a:prstGeom prst="roundRect">
            <a:avLst>
              <a:gd fmla="val 50000" name="adj"/>
            </a:avLst>
          </a:prstGeom>
          <a:solidFill>
            <a:srgbClr val="3A4A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8" name="Google Shape;318;p24"/>
          <p:cNvSpPr/>
          <p:nvPr/>
        </p:nvSpPr>
        <p:spPr>
          <a:xfrm>
            <a:off x="4265676" y="2023110"/>
            <a:ext cx="11658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+ 200</a:t>
            </a:r>
            <a:endParaRPr b="0" i="0" sz="1100" u="none" cap="none" strike="noStrike">
              <a:solidFill>
                <a:schemeClr val="dk1"/>
              </a:solidFill>
              <a:latin typeface="Calibri"/>
              <a:ea typeface="Calibri"/>
              <a:cs typeface="Calibri"/>
              <a:sym typeface="Calibri"/>
            </a:endParaRPr>
          </a:p>
        </p:txBody>
      </p:sp>
      <p:cxnSp>
        <p:nvCxnSpPr>
          <p:cNvPr id="319" name="Google Shape;319;p24"/>
          <p:cNvCxnSpPr/>
          <p:nvPr/>
        </p:nvCxnSpPr>
        <p:spPr>
          <a:xfrm>
            <a:off x="5465826" y="2228850"/>
            <a:ext cx="377190" cy="0"/>
          </a:xfrm>
          <a:prstGeom prst="straightConnector1">
            <a:avLst/>
          </a:prstGeom>
          <a:noFill/>
          <a:ln cap="flat" cmpd="sng" w="31750">
            <a:solidFill>
              <a:srgbClr val="3A4A63"/>
            </a:solidFill>
            <a:prstDash val="solid"/>
            <a:round/>
            <a:headEnd len="sm" w="sm" type="none"/>
            <a:tailEnd len="med" w="med" type="triangle"/>
          </a:ln>
        </p:spPr>
      </p:cxnSp>
      <p:sp>
        <p:nvSpPr>
          <p:cNvPr id="320" name="Google Shape;320;p24"/>
          <p:cNvSpPr/>
          <p:nvPr/>
        </p:nvSpPr>
        <p:spPr>
          <a:xfrm>
            <a:off x="5911596" y="1611630"/>
            <a:ext cx="312039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global loaded space</a:t>
            </a:r>
            <a:endParaRPr b="0" i="0" sz="900" u="none" cap="none" strike="noStrike">
              <a:solidFill>
                <a:schemeClr val="dk1"/>
              </a:solidFill>
              <a:latin typeface="Calibri"/>
              <a:ea typeface="Calibri"/>
              <a:cs typeface="Calibri"/>
              <a:sym typeface="Calibri"/>
            </a:endParaRPr>
          </a:p>
        </p:txBody>
      </p:sp>
      <p:sp>
        <p:nvSpPr>
          <p:cNvPr id="321" name="Google Shape;321;p24"/>
          <p:cNvSpPr/>
          <p:nvPr/>
        </p:nvSpPr>
        <p:spPr>
          <a:xfrm>
            <a:off x="5911596" y="1885950"/>
            <a:ext cx="1040130" cy="685800"/>
          </a:xfrm>
          <a:prstGeom prst="roundRect">
            <a:avLst>
              <a:gd fmla="val 4000"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4"/>
          <p:cNvSpPr/>
          <p:nvPr/>
        </p:nvSpPr>
        <p:spPr>
          <a:xfrm>
            <a:off x="5911596" y="1885950"/>
            <a:ext cx="104013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1000"/>
              <a:buFont typeface="Courier New"/>
              <a:buNone/>
            </a:pPr>
            <a:r>
              <a:rPr b="0" i="0" lang="en" sz="1000" u="none" cap="none" strike="noStrike">
                <a:solidFill>
                  <a:srgbClr val="DE7A29"/>
                </a:solidFill>
                <a:latin typeface="Courier New"/>
                <a:ea typeface="Courier New"/>
                <a:cs typeface="Courier New"/>
                <a:sym typeface="Courier New"/>
              </a:rPr>
              <a:t>b.h</a:t>
            </a:r>
            <a:endParaRPr b="0" i="0" sz="1000" u="none" cap="none" strike="noStrike">
              <a:solidFill>
                <a:schemeClr val="dk1"/>
              </a:solidFill>
              <a:latin typeface="Calibri"/>
              <a:ea typeface="Calibri"/>
              <a:cs typeface="Calibri"/>
              <a:sym typeface="Calibri"/>
            </a:endParaRPr>
          </a:p>
        </p:txBody>
      </p:sp>
      <p:sp>
        <p:nvSpPr>
          <p:cNvPr id="323" name="Google Shape;323;p24"/>
          <p:cNvSpPr/>
          <p:nvPr/>
        </p:nvSpPr>
        <p:spPr>
          <a:xfrm>
            <a:off x="6951726" y="1885950"/>
            <a:ext cx="1300163" cy="685800"/>
          </a:xfrm>
          <a:prstGeom prst="roundRect">
            <a:avLst>
              <a:gd fmla="val 4000" name="adj"/>
            </a:avLst>
          </a:prstGeom>
          <a:solidFill>
            <a:srgbClr val="DFF0F0"/>
          </a:solidFill>
          <a:ln cap="flat" cmpd="sng" w="17775">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4" name="Google Shape;324;p24"/>
          <p:cNvSpPr/>
          <p:nvPr/>
        </p:nvSpPr>
        <p:spPr>
          <a:xfrm>
            <a:off x="6951726" y="1885950"/>
            <a:ext cx="1300163"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325" name="Google Shape;325;p24"/>
          <p:cNvSpPr/>
          <p:nvPr/>
        </p:nvSpPr>
        <p:spPr>
          <a:xfrm>
            <a:off x="8251889" y="1885950"/>
            <a:ext cx="780098" cy="685800"/>
          </a:xfrm>
          <a:prstGeom prst="roundRect">
            <a:avLst>
              <a:gd fmla="val 4000"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6" name="Google Shape;326;p24"/>
          <p:cNvSpPr/>
          <p:nvPr/>
        </p:nvSpPr>
        <p:spPr>
          <a:xfrm>
            <a:off x="8251889" y="1885950"/>
            <a:ext cx="78009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1000"/>
              <a:buFont typeface="Courier New"/>
              <a:buNone/>
            </a:pPr>
            <a:r>
              <a:rPr b="0" i="0" lang="en" sz="1000" u="none" cap="none" strike="noStrike">
                <a:solidFill>
                  <a:srgbClr val="3A4A63"/>
                </a:solidFill>
                <a:latin typeface="Courier New"/>
                <a:ea typeface="Courier New"/>
                <a:cs typeface="Courier New"/>
                <a:sym typeface="Courier New"/>
              </a:rPr>
              <a:t>…</a:t>
            </a:r>
            <a:endParaRPr b="0" i="0" sz="1000" u="none" cap="none" strike="noStrike">
              <a:solidFill>
                <a:schemeClr val="dk1"/>
              </a:solidFill>
              <a:latin typeface="Calibri"/>
              <a:ea typeface="Calibri"/>
              <a:cs typeface="Calibri"/>
              <a:sym typeface="Calibri"/>
            </a:endParaRPr>
          </a:p>
        </p:txBody>
      </p:sp>
      <p:sp>
        <p:nvSpPr>
          <p:cNvPr id="327" name="Google Shape;327;p24"/>
          <p:cNvSpPr/>
          <p:nvPr/>
        </p:nvSpPr>
        <p:spPr>
          <a:xfrm>
            <a:off x="7526369" y="2153412"/>
            <a:ext cx="150876" cy="150876"/>
          </a:xfrm>
          <a:prstGeom prst="ellipse">
            <a:avLst/>
          </a:prstGeom>
          <a:solidFill>
            <a:srgbClr val="CE4C3B"/>
          </a:solidFill>
          <a:ln cap="flat" cmpd="sng" w="1905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24"/>
          <p:cNvSpPr/>
          <p:nvPr/>
        </p:nvSpPr>
        <p:spPr>
          <a:xfrm>
            <a:off x="6984587" y="2626614"/>
            <a:ext cx="123444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900"/>
              <a:buFont typeface="Courier New"/>
              <a:buNone/>
            </a:pPr>
            <a:r>
              <a:rPr b="1" i="0" lang="en" sz="900" u="none" cap="none" strike="noStrike">
                <a:solidFill>
                  <a:srgbClr val="CE4C3B"/>
                </a:solidFill>
                <a:latin typeface="Courier New"/>
                <a:ea typeface="Courier New"/>
                <a:cs typeface="Courier New"/>
                <a:sym typeface="Courier New"/>
              </a:rPr>
              <a:t>global 265</a:t>
            </a:r>
            <a:endParaRPr b="0" i="0" sz="900" u="none" cap="none" strike="noStrike">
              <a:solidFill>
                <a:schemeClr val="dk1"/>
              </a:solidFill>
              <a:latin typeface="Calibri"/>
              <a:ea typeface="Calibri"/>
              <a:cs typeface="Calibri"/>
              <a:sym typeface="Calibri"/>
            </a:endParaRPr>
          </a:p>
        </p:txBody>
      </p:sp>
      <p:sp>
        <p:nvSpPr>
          <p:cNvPr id="329" name="Google Shape;329;p24"/>
          <p:cNvSpPr/>
          <p:nvPr/>
        </p:nvSpPr>
        <p:spPr>
          <a:xfrm>
            <a:off x="425196" y="3806190"/>
            <a:ext cx="8291322" cy="720090"/>
          </a:xfrm>
          <a:prstGeom prst="roundRect">
            <a:avLst>
              <a:gd fmla="val 8571"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0" name="Google Shape;330;p24"/>
          <p:cNvSpPr/>
          <p:nvPr/>
        </p:nvSpPr>
        <p:spPr>
          <a:xfrm>
            <a:off x="665226" y="3806190"/>
            <a:ext cx="7811262"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C2233"/>
              </a:buClr>
              <a:buSzPts val="1100"/>
              <a:buFont typeface="Courier New"/>
              <a:buNone/>
            </a:pPr>
            <a:r>
              <a:rPr b="1" i="0" lang="en" sz="1100" u="none" cap="none" strike="noStrike">
                <a:solidFill>
                  <a:srgbClr val="1C2233"/>
                </a:solidFill>
                <a:latin typeface="Courier New"/>
                <a:ea typeface="Courier New"/>
                <a:cs typeface="Courier New"/>
                <a:sym typeface="Courier New"/>
              </a:rPr>
              <a:t>local 65  →  65 + 200  =  265.  </a:t>
            </a:r>
            <a:endParaRPr b="1" i="0" sz="1100" u="none" cap="none" strike="noStrike">
              <a:solidFill>
                <a:srgbClr val="1C2233"/>
              </a:solidFill>
              <a:latin typeface="Courier New"/>
              <a:ea typeface="Courier New"/>
              <a:cs typeface="Courier New"/>
              <a:sym typeface="Courier New"/>
            </a:endParaRPr>
          </a:p>
          <a:p>
            <a:pPr indent="0" lvl="0" marL="0" marR="0" rtl="0" algn="ctr">
              <a:spcBef>
                <a:spcPts val="0"/>
              </a:spcBef>
              <a:spcAft>
                <a:spcPts val="0"/>
              </a:spcAft>
              <a:buClr>
                <a:srgbClr val="1C2233"/>
              </a:buClr>
              <a:buSzPts val="1100"/>
              <a:buFont typeface="Courier New"/>
              <a:buNone/>
            </a:pPr>
            <a:r>
              <a:rPr b="0" i="0" lang="en" sz="1100" u="none" cap="none" strike="noStrike">
                <a:solidFill>
                  <a:srgbClr val="5E6675"/>
                </a:solidFill>
                <a:latin typeface="Calibri"/>
                <a:ea typeface="Calibri"/>
                <a:cs typeface="Calibri"/>
                <a:sym typeface="Calibri"/>
              </a:rPr>
              <a:t>The location lands in B’s own private copy of foo.h.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25"/>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9E5B"/>
              </a:buClr>
              <a:buSzPts val="900"/>
              <a:buFont typeface="Calibri"/>
              <a:buNone/>
            </a:pPr>
            <a:r>
              <a:rPr b="1" i="0" lang="en" sz="900" u="none" cap="none" strike="noStrike">
                <a:solidFill>
                  <a:srgbClr val="2E9E5B"/>
                </a:solidFill>
                <a:latin typeface="Calibri"/>
                <a:ea typeface="Calibri"/>
                <a:cs typeface="Calibri"/>
                <a:sym typeface="Calibri"/>
              </a:rPr>
              <a:t>STEP 4 · NOW</a:t>
            </a:r>
            <a:endParaRPr b="0" i="0" sz="900" u="none" cap="none" strike="noStrike">
              <a:solidFill>
                <a:schemeClr val="dk1"/>
              </a:solidFill>
              <a:latin typeface="Calibri"/>
              <a:ea typeface="Calibri"/>
              <a:cs typeface="Calibri"/>
              <a:sym typeface="Calibri"/>
            </a:endParaRPr>
          </a:p>
        </p:txBody>
      </p:sp>
      <p:sp>
        <p:nvSpPr>
          <p:cNvPr id="337" name="Google Shape;337;p25"/>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Now: a reused file leaves a hole</a:t>
            </a:r>
            <a:endParaRPr b="0" i="0" sz="2400" u="none" cap="none" strike="noStrike">
              <a:solidFill>
                <a:schemeClr val="dk1"/>
              </a:solidFill>
              <a:latin typeface="Calibri"/>
              <a:ea typeface="Calibri"/>
              <a:cs typeface="Calibri"/>
              <a:sym typeface="Calibri"/>
            </a:endParaRPr>
          </a:p>
        </p:txBody>
      </p:sp>
      <p:sp>
        <p:nvSpPr>
          <p:cNvPr id="338" name="Google Shape;338;p25"/>
          <p:cNvSpPr/>
          <p:nvPr/>
        </p:nvSpPr>
        <p:spPr>
          <a:xfrm>
            <a:off x="699516" y="1364742"/>
            <a:ext cx="32232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B’s local locations</a:t>
            </a:r>
            <a:endParaRPr b="0" i="0" sz="900" u="none" cap="none" strike="noStrike">
              <a:solidFill>
                <a:schemeClr val="dk1"/>
              </a:solidFill>
              <a:latin typeface="Calibri"/>
              <a:ea typeface="Calibri"/>
              <a:cs typeface="Calibri"/>
              <a:sym typeface="Calibri"/>
            </a:endParaRPr>
          </a:p>
        </p:txBody>
      </p:sp>
      <p:sp>
        <p:nvSpPr>
          <p:cNvPr id="339" name="Google Shape;339;p25"/>
          <p:cNvSpPr/>
          <p:nvPr/>
        </p:nvSpPr>
        <p:spPr>
          <a:xfrm>
            <a:off x="699516" y="1611630"/>
            <a:ext cx="1074420" cy="582930"/>
          </a:xfrm>
          <a:prstGeom prst="roundRect">
            <a:avLst>
              <a:gd fmla="val 4706"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0" name="Google Shape;340;p25"/>
          <p:cNvSpPr/>
          <p:nvPr/>
        </p:nvSpPr>
        <p:spPr>
          <a:xfrm>
            <a:off x="699516" y="1611630"/>
            <a:ext cx="107442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900"/>
              <a:buFont typeface="Courier New"/>
              <a:buNone/>
            </a:pPr>
            <a:r>
              <a:rPr b="0" i="0" lang="en" sz="900" u="none" cap="none" strike="noStrike">
                <a:solidFill>
                  <a:srgbClr val="DE7A29"/>
                </a:solidFill>
                <a:latin typeface="Courier New"/>
                <a:ea typeface="Courier New"/>
                <a:cs typeface="Courier New"/>
                <a:sym typeface="Courier New"/>
              </a:rPr>
              <a:t>b.h</a:t>
            </a:r>
            <a:endParaRPr b="0" i="0" sz="900" u="none" cap="none" strike="noStrike">
              <a:solidFill>
                <a:schemeClr val="dk1"/>
              </a:solidFill>
              <a:latin typeface="Calibri"/>
              <a:ea typeface="Calibri"/>
              <a:cs typeface="Calibri"/>
              <a:sym typeface="Calibri"/>
            </a:endParaRPr>
          </a:p>
        </p:txBody>
      </p:sp>
      <p:sp>
        <p:nvSpPr>
          <p:cNvPr id="341" name="Google Shape;341;p25"/>
          <p:cNvSpPr/>
          <p:nvPr/>
        </p:nvSpPr>
        <p:spPr>
          <a:xfrm>
            <a:off x="1773936" y="1611630"/>
            <a:ext cx="1343025" cy="582930"/>
          </a:xfrm>
          <a:prstGeom prst="roundRect">
            <a:avLst>
              <a:gd fmla="val 4706" name="adj"/>
            </a:avLst>
          </a:prstGeom>
          <a:solidFill>
            <a:srgbClr val="FFFFFF"/>
          </a:solidFill>
          <a:ln cap="flat" cmpd="sng" w="17775">
            <a:solidFill>
              <a:srgbClr val="CE4C3B"/>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2" name="Google Shape;342;p25"/>
          <p:cNvSpPr/>
          <p:nvPr/>
        </p:nvSpPr>
        <p:spPr>
          <a:xfrm>
            <a:off x="1773936" y="1611630"/>
            <a:ext cx="1343025"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4C3B"/>
              </a:buClr>
              <a:buSzPts val="900"/>
              <a:buFont typeface="Courier New"/>
              <a:buNone/>
            </a:pPr>
            <a:r>
              <a:rPr b="0" i="0" lang="en" sz="900" u="none" cap="none" strike="noStrike">
                <a:solidFill>
                  <a:srgbClr val="CE4C3B"/>
                </a:solidFill>
                <a:latin typeface="Courier New"/>
                <a:ea typeface="Courier New"/>
                <a:cs typeface="Courier New"/>
                <a:sym typeface="Courier New"/>
              </a:rPr>
              <a:t>hole</a:t>
            </a:r>
            <a:endParaRPr b="0" i="0" sz="900" u="none" cap="none" strike="noStrike">
              <a:solidFill>
                <a:schemeClr val="dk1"/>
              </a:solidFill>
              <a:latin typeface="Calibri"/>
              <a:ea typeface="Calibri"/>
              <a:cs typeface="Calibri"/>
              <a:sym typeface="Calibri"/>
            </a:endParaRPr>
          </a:p>
        </p:txBody>
      </p:sp>
      <p:sp>
        <p:nvSpPr>
          <p:cNvPr id="343" name="Google Shape;343;p25"/>
          <p:cNvSpPr/>
          <p:nvPr/>
        </p:nvSpPr>
        <p:spPr>
          <a:xfrm>
            <a:off x="3116961" y="1611630"/>
            <a:ext cx="805815" cy="582930"/>
          </a:xfrm>
          <a:prstGeom prst="roundRect">
            <a:avLst>
              <a:gd fmla="val 4706"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25"/>
          <p:cNvSpPr/>
          <p:nvPr/>
        </p:nvSpPr>
        <p:spPr>
          <a:xfrm>
            <a:off x="3116961" y="1611630"/>
            <a:ext cx="805815"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900"/>
              <a:buFont typeface="Courier New"/>
              <a:buNone/>
            </a:pPr>
            <a:r>
              <a:rPr b="0" i="0" lang="en" sz="900" u="none" cap="none" strike="noStrike">
                <a:solidFill>
                  <a:srgbClr val="3A4A63"/>
                </a:solidFill>
                <a:latin typeface="Courier New"/>
                <a:ea typeface="Courier New"/>
                <a:cs typeface="Courier New"/>
                <a:sym typeface="Courier New"/>
              </a:rPr>
              <a:t>…</a:t>
            </a:r>
            <a:endParaRPr b="0" i="0" sz="900" u="none" cap="none" strike="noStrike">
              <a:solidFill>
                <a:schemeClr val="dk1"/>
              </a:solidFill>
              <a:latin typeface="Calibri"/>
              <a:ea typeface="Calibri"/>
              <a:cs typeface="Calibri"/>
              <a:sym typeface="Calibri"/>
            </a:endParaRPr>
          </a:p>
        </p:txBody>
      </p:sp>
      <p:sp>
        <p:nvSpPr>
          <p:cNvPr id="345" name="Google Shape;345;p25"/>
          <p:cNvSpPr/>
          <p:nvPr/>
        </p:nvSpPr>
        <p:spPr>
          <a:xfrm>
            <a:off x="699516" y="2228850"/>
            <a:ext cx="322326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900"/>
              <a:buFont typeface="Calibri"/>
              <a:buNone/>
            </a:pPr>
            <a:r>
              <a:rPr b="0" i="1" lang="en" sz="900" u="none" cap="none" strike="noStrike">
                <a:solidFill>
                  <a:srgbClr val="CE4C3B"/>
                </a:solidFill>
                <a:latin typeface="Calibri"/>
                <a:ea typeface="Calibri"/>
                <a:cs typeface="Calibri"/>
                <a:sym typeface="Calibri"/>
              </a:rPr>
              <a:t>foo.h reused from A → not stored here</a:t>
            </a:r>
            <a:endParaRPr b="0" i="0" sz="900" u="none" cap="none" strike="noStrike">
              <a:solidFill>
                <a:schemeClr val="dk1"/>
              </a:solidFill>
              <a:latin typeface="Calibri"/>
              <a:ea typeface="Calibri"/>
              <a:cs typeface="Calibri"/>
              <a:sym typeface="Calibri"/>
            </a:endParaRPr>
          </a:p>
        </p:txBody>
      </p:sp>
      <p:sp>
        <p:nvSpPr>
          <p:cNvPr id="346" name="Google Shape;346;p25"/>
          <p:cNvSpPr/>
          <p:nvPr/>
        </p:nvSpPr>
        <p:spPr>
          <a:xfrm>
            <a:off x="4437126" y="1124712"/>
            <a:ext cx="4279392"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B’s segment table  (sorted by local start)</a:t>
            </a:r>
            <a:endParaRPr b="0" i="0" sz="900" u="none" cap="none" strike="noStrike">
              <a:solidFill>
                <a:schemeClr val="dk1"/>
              </a:solidFill>
              <a:latin typeface="Calibri"/>
              <a:ea typeface="Calibri"/>
              <a:cs typeface="Calibri"/>
              <a:sym typeface="Calibri"/>
            </a:endParaRPr>
          </a:p>
        </p:txBody>
      </p:sp>
      <p:sp>
        <p:nvSpPr>
          <p:cNvPr id="347" name="Google Shape;347;p25"/>
          <p:cNvSpPr/>
          <p:nvPr/>
        </p:nvSpPr>
        <p:spPr>
          <a:xfrm>
            <a:off x="4437126" y="1371600"/>
            <a:ext cx="4279392" cy="288036"/>
          </a:xfrm>
          <a:prstGeom prst="rect">
            <a:avLst/>
          </a:prstGeom>
          <a:solidFill>
            <a:srgbClr val="3A4A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8" name="Google Shape;348;p25"/>
          <p:cNvSpPr/>
          <p:nvPr/>
        </p:nvSpPr>
        <p:spPr>
          <a:xfrm>
            <a:off x="4539996" y="1371600"/>
            <a:ext cx="179734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local range</a:t>
            </a:r>
            <a:endParaRPr b="0" i="0" sz="900" u="none" cap="none" strike="noStrike">
              <a:solidFill>
                <a:schemeClr val="dk1"/>
              </a:solidFill>
              <a:latin typeface="Calibri"/>
              <a:ea typeface="Calibri"/>
              <a:cs typeface="Calibri"/>
              <a:sym typeface="Calibri"/>
            </a:endParaRPr>
          </a:p>
        </p:txBody>
      </p:sp>
      <p:sp>
        <p:nvSpPr>
          <p:cNvPr id="349" name="Google Shape;349;p25"/>
          <p:cNvSpPr/>
          <p:nvPr/>
        </p:nvSpPr>
        <p:spPr>
          <a:xfrm>
            <a:off x="6320059" y="1371600"/>
            <a:ext cx="2396459"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maps to</a:t>
            </a:r>
            <a:endParaRPr b="0" i="0" sz="900" u="none" cap="none" strike="noStrike">
              <a:solidFill>
                <a:schemeClr val="dk1"/>
              </a:solidFill>
              <a:latin typeface="Calibri"/>
              <a:ea typeface="Calibri"/>
              <a:cs typeface="Calibri"/>
              <a:sym typeface="Calibri"/>
            </a:endParaRPr>
          </a:p>
        </p:txBody>
      </p:sp>
      <p:sp>
        <p:nvSpPr>
          <p:cNvPr id="350" name="Google Shape;350;p25"/>
          <p:cNvSpPr/>
          <p:nvPr/>
        </p:nvSpPr>
        <p:spPr>
          <a:xfrm>
            <a:off x="4437126" y="1659636"/>
            <a:ext cx="4279392" cy="425196"/>
          </a:xfrm>
          <a:prstGeom prst="rect">
            <a:avLst/>
          </a:prstGeom>
          <a:solidFill>
            <a:srgbClr val="FFFFFF"/>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25"/>
          <p:cNvSpPr/>
          <p:nvPr/>
        </p:nvSpPr>
        <p:spPr>
          <a:xfrm>
            <a:off x="4539996" y="1659636"/>
            <a:ext cx="1797345"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000"/>
              <a:buFont typeface="Courier New"/>
              <a:buNone/>
            </a:pPr>
            <a:r>
              <a:rPr b="1" i="0" lang="en" sz="1000" u="none" cap="none" strike="noStrike">
                <a:solidFill>
                  <a:srgbClr val="1C2233"/>
                </a:solidFill>
                <a:latin typeface="Courier New"/>
                <a:ea typeface="Courier New"/>
                <a:cs typeface="Courier New"/>
                <a:sym typeface="Courier New"/>
              </a:rPr>
              <a:t>[0, 40)</a:t>
            </a:r>
            <a:endParaRPr b="0" i="0" sz="1000" u="none" cap="none" strike="noStrike">
              <a:solidFill>
                <a:schemeClr val="dk1"/>
              </a:solidFill>
              <a:latin typeface="Calibri"/>
              <a:ea typeface="Calibri"/>
              <a:cs typeface="Calibri"/>
              <a:sym typeface="Calibri"/>
            </a:endParaRPr>
          </a:p>
        </p:txBody>
      </p:sp>
      <p:sp>
        <p:nvSpPr>
          <p:cNvPr id="352" name="Google Shape;352;p25"/>
          <p:cNvSpPr/>
          <p:nvPr/>
        </p:nvSpPr>
        <p:spPr>
          <a:xfrm>
            <a:off x="6320059" y="1659636"/>
            <a:ext cx="2396459"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E7A29"/>
              </a:buClr>
              <a:buSzPts val="900"/>
              <a:buFont typeface="Courier New"/>
              <a:buNone/>
            </a:pPr>
            <a:r>
              <a:rPr b="1" i="0" lang="en" sz="900" u="none" cap="none" strike="noStrike">
                <a:solidFill>
                  <a:srgbClr val="DE7A29"/>
                </a:solidFill>
                <a:latin typeface="Courier New"/>
                <a:ea typeface="Courier New"/>
                <a:cs typeface="Courier New"/>
                <a:sym typeface="Courier New"/>
              </a:rPr>
              <a:t>b.h → B’s block</a:t>
            </a:r>
            <a:r>
              <a:rPr b="0" i="0" lang="en" sz="900" u="none" cap="none" strike="noStrike">
                <a:solidFill>
                  <a:srgbClr val="5E6675"/>
                </a:solidFill>
                <a:latin typeface="Courier New"/>
                <a:ea typeface="Courier New"/>
                <a:cs typeface="Courier New"/>
                <a:sym typeface="Courier New"/>
              </a:rPr>
              <a:t>   +200</a:t>
            </a:r>
            <a:endParaRPr b="0" i="0" sz="900" u="none" cap="none" strike="noStrike">
              <a:solidFill>
                <a:schemeClr val="dk1"/>
              </a:solidFill>
              <a:latin typeface="Calibri"/>
              <a:ea typeface="Calibri"/>
              <a:cs typeface="Calibri"/>
              <a:sym typeface="Calibri"/>
            </a:endParaRPr>
          </a:p>
        </p:txBody>
      </p:sp>
      <p:sp>
        <p:nvSpPr>
          <p:cNvPr id="353" name="Google Shape;353;p25"/>
          <p:cNvSpPr/>
          <p:nvPr/>
        </p:nvSpPr>
        <p:spPr>
          <a:xfrm>
            <a:off x="4437126" y="2084832"/>
            <a:ext cx="4279392" cy="425196"/>
          </a:xfrm>
          <a:prstGeom prst="rect">
            <a:avLst/>
          </a:prstGeom>
          <a:solidFill>
            <a:srgbClr val="DFF0F0"/>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25"/>
          <p:cNvSpPr/>
          <p:nvPr/>
        </p:nvSpPr>
        <p:spPr>
          <a:xfrm>
            <a:off x="4539996" y="2084832"/>
            <a:ext cx="1797345"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000"/>
              <a:buFont typeface="Courier New"/>
              <a:buNone/>
            </a:pPr>
            <a:r>
              <a:rPr b="1" i="0" lang="en" sz="1000" u="none" cap="none" strike="noStrike">
                <a:solidFill>
                  <a:srgbClr val="1C2233"/>
                </a:solidFill>
                <a:latin typeface="Courier New"/>
                <a:ea typeface="Courier New"/>
                <a:cs typeface="Courier New"/>
                <a:sym typeface="Courier New"/>
              </a:rPr>
              <a:t>[40, 90)</a:t>
            </a:r>
            <a:endParaRPr b="0" i="0" sz="1000" u="none" cap="none" strike="noStrike">
              <a:solidFill>
                <a:schemeClr val="dk1"/>
              </a:solidFill>
              <a:latin typeface="Calibri"/>
              <a:ea typeface="Calibri"/>
              <a:cs typeface="Calibri"/>
              <a:sym typeface="Calibri"/>
            </a:endParaRPr>
          </a:p>
        </p:txBody>
      </p:sp>
      <p:sp>
        <p:nvSpPr>
          <p:cNvPr id="355" name="Google Shape;355;p25"/>
          <p:cNvSpPr/>
          <p:nvPr/>
        </p:nvSpPr>
        <p:spPr>
          <a:xfrm>
            <a:off x="6320059" y="2084832"/>
            <a:ext cx="2396459"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foo.h → A’s copy</a:t>
            </a:r>
            <a:r>
              <a:rPr b="0" i="0" lang="en" sz="900" u="none" cap="none" strike="noStrike">
                <a:solidFill>
                  <a:srgbClr val="5E6675"/>
                </a:solidFill>
                <a:latin typeface="Courier New"/>
                <a:ea typeface="Courier New"/>
                <a:cs typeface="Courier New"/>
                <a:sym typeface="Courier New"/>
              </a:rPr>
              <a:t>   +60</a:t>
            </a:r>
            <a:endParaRPr b="0" i="0" sz="900" u="none" cap="none" strike="noStrike">
              <a:solidFill>
                <a:schemeClr val="dk1"/>
              </a:solidFill>
              <a:latin typeface="Calibri"/>
              <a:ea typeface="Calibri"/>
              <a:cs typeface="Calibri"/>
              <a:sym typeface="Calibri"/>
            </a:endParaRPr>
          </a:p>
        </p:txBody>
      </p:sp>
      <p:sp>
        <p:nvSpPr>
          <p:cNvPr id="356" name="Google Shape;356;p25"/>
          <p:cNvSpPr/>
          <p:nvPr/>
        </p:nvSpPr>
        <p:spPr>
          <a:xfrm>
            <a:off x="4437126" y="2510028"/>
            <a:ext cx="4279392" cy="425196"/>
          </a:xfrm>
          <a:prstGeom prst="rect">
            <a:avLst/>
          </a:prstGeom>
          <a:solidFill>
            <a:srgbClr val="FFFFFF"/>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7" name="Google Shape;357;p25"/>
          <p:cNvSpPr/>
          <p:nvPr/>
        </p:nvSpPr>
        <p:spPr>
          <a:xfrm>
            <a:off x="4539996" y="2510028"/>
            <a:ext cx="17973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000"/>
              <a:buFont typeface="Courier New"/>
              <a:buNone/>
            </a:pPr>
            <a:r>
              <a:rPr b="1" i="0" lang="en" sz="1000" u="none" cap="none" strike="noStrike">
                <a:solidFill>
                  <a:srgbClr val="1C2233"/>
                </a:solidFill>
                <a:latin typeface="Courier New"/>
                <a:ea typeface="Courier New"/>
                <a:cs typeface="Courier New"/>
                <a:sym typeface="Courier New"/>
              </a:rPr>
              <a:t>[90, 120)</a:t>
            </a:r>
            <a:endParaRPr b="0" i="0" sz="1000" u="none" cap="none" strike="noStrike">
              <a:solidFill>
                <a:schemeClr val="dk1"/>
              </a:solidFill>
              <a:latin typeface="Calibri"/>
              <a:ea typeface="Calibri"/>
              <a:cs typeface="Calibri"/>
              <a:sym typeface="Calibri"/>
            </a:endParaRPr>
          </a:p>
        </p:txBody>
      </p:sp>
      <p:sp>
        <p:nvSpPr>
          <p:cNvPr id="358" name="Google Shape;358;p25"/>
          <p:cNvSpPr/>
          <p:nvPr/>
        </p:nvSpPr>
        <p:spPr>
          <a:xfrm>
            <a:off x="6320059" y="2510028"/>
            <a:ext cx="2396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4A63"/>
              </a:buClr>
              <a:buSzPts val="900"/>
              <a:buFont typeface="Courier New"/>
              <a:buNone/>
            </a:pPr>
            <a:r>
              <a:rPr b="1" i="0" lang="en" sz="900" u="none" cap="none" strike="noStrike">
                <a:solidFill>
                  <a:srgbClr val="3A4A63"/>
                </a:solidFill>
                <a:latin typeface="Courier New"/>
                <a:ea typeface="Courier New"/>
                <a:cs typeface="Courier New"/>
                <a:sym typeface="Courier New"/>
              </a:rPr>
              <a:t>… → B’s block</a:t>
            </a:r>
            <a:r>
              <a:rPr b="0" i="0" lang="en" sz="900" u="none" cap="none" strike="noStrike">
                <a:solidFill>
                  <a:srgbClr val="5E6675"/>
                </a:solidFill>
                <a:latin typeface="Courier New"/>
                <a:ea typeface="Courier New"/>
                <a:cs typeface="Courier New"/>
                <a:sym typeface="Courier New"/>
              </a:rPr>
              <a:t>   +1</a:t>
            </a:r>
            <a:r>
              <a:rPr lang="en" sz="900">
                <a:solidFill>
                  <a:srgbClr val="5E6675"/>
                </a:solidFill>
                <a:latin typeface="Courier New"/>
                <a:ea typeface="Courier New"/>
                <a:cs typeface="Courier New"/>
                <a:sym typeface="Courier New"/>
              </a:rPr>
              <a:t>5</a:t>
            </a:r>
            <a:r>
              <a:rPr b="0" i="0" lang="en" sz="900" u="none" cap="none" strike="noStrike">
                <a:solidFill>
                  <a:srgbClr val="5E6675"/>
                </a:solidFill>
                <a:latin typeface="Courier New"/>
                <a:ea typeface="Courier New"/>
                <a:cs typeface="Courier New"/>
                <a:sym typeface="Courier New"/>
              </a:rPr>
              <a:t>0</a:t>
            </a:r>
            <a:endParaRPr b="0" i="0" sz="900" u="none" cap="none" strike="noStrike">
              <a:solidFill>
                <a:schemeClr val="dk1"/>
              </a:solidFill>
              <a:latin typeface="Calibri"/>
              <a:ea typeface="Calibri"/>
              <a:cs typeface="Calibri"/>
              <a:sym typeface="Calibri"/>
            </a:endParaRPr>
          </a:p>
        </p:txBody>
      </p:sp>
      <p:sp>
        <p:nvSpPr>
          <p:cNvPr id="359" name="Google Shape;359;p25"/>
          <p:cNvSpPr/>
          <p:nvPr/>
        </p:nvSpPr>
        <p:spPr>
          <a:xfrm>
            <a:off x="425196" y="3806190"/>
            <a:ext cx="8291322" cy="754380"/>
          </a:xfrm>
          <a:prstGeom prst="roundRect">
            <a:avLst>
              <a:gd fmla="val 8182" name="adj"/>
            </a:avLst>
          </a:prstGeom>
          <a:solidFill>
            <a:srgbClr val="E1F2E8"/>
          </a:solidFill>
          <a:ln cap="flat" cmpd="sng" w="12700">
            <a:solidFill>
              <a:srgbClr val="AEDCC0"/>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25"/>
          <p:cNvSpPr/>
          <p:nvPr/>
        </p:nvSpPr>
        <p:spPr>
          <a:xfrm>
            <a:off x="665226" y="3806190"/>
            <a:ext cx="7811262"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1C2233"/>
              </a:buClr>
              <a:buSzPts val="1100"/>
              <a:buFont typeface="Calibri"/>
              <a:buNone/>
            </a:pPr>
            <a:r>
              <a:rPr b="1" i="0" lang="en" sz="1100" u="none" cap="none" strike="noStrike">
                <a:solidFill>
                  <a:srgbClr val="1C2233"/>
                </a:solidFill>
                <a:latin typeface="Calibri"/>
                <a:ea typeface="Calibri"/>
                <a:cs typeface="Calibri"/>
                <a:sym typeface="Calibri"/>
              </a:rPr>
              <a:t>Each module carries a short sorted table of segments. </a:t>
            </a:r>
            <a:r>
              <a:rPr b="0" i="0" lang="en" sz="1100" u="none" cap="none" strike="noStrike">
                <a:solidFill>
                  <a:srgbClr val="5E6675"/>
                </a:solidFill>
                <a:latin typeface="Calibri"/>
                <a:ea typeface="Calibri"/>
                <a:cs typeface="Calibri"/>
                <a:sym typeface="Calibri"/>
              </a:rPr>
              <a:t>Kept files shift into their own block; the reused file redirects into A. Translating a location is a </a:t>
            </a:r>
            <a:r>
              <a:rPr b="1" i="0" lang="en" sz="1100" u="none" cap="none" strike="noStrike">
                <a:solidFill>
                  <a:srgbClr val="2E9E5B"/>
                </a:solidFill>
                <a:latin typeface="Calibri"/>
                <a:ea typeface="Calibri"/>
                <a:cs typeface="Calibri"/>
                <a:sym typeface="Calibri"/>
              </a:rPr>
              <a:t>binary search</a:t>
            </a:r>
            <a:r>
              <a:rPr b="0" i="0" lang="en" sz="1100" u="none" cap="none" strike="noStrike">
                <a:solidFill>
                  <a:srgbClr val="5E6675"/>
                </a:solidFill>
                <a:latin typeface="Calibri"/>
                <a:ea typeface="Calibri"/>
                <a:cs typeface="Calibri"/>
                <a:sym typeface="Calibri"/>
              </a:rPr>
              <a:t> for the covering segment.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6"/>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9E5B"/>
              </a:buClr>
              <a:buSzPts val="900"/>
              <a:buFont typeface="Calibri"/>
              <a:buNone/>
            </a:pPr>
            <a:r>
              <a:rPr b="1" i="0" lang="en" sz="900" u="none" cap="none" strike="noStrike">
                <a:solidFill>
                  <a:srgbClr val="2E9E5B"/>
                </a:solidFill>
                <a:latin typeface="Calibri"/>
                <a:ea typeface="Calibri"/>
                <a:cs typeface="Calibri"/>
                <a:sym typeface="Calibri"/>
              </a:rPr>
              <a:t>STEP 4 · NOW</a:t>
            </a:r>
            <a:endParaRPr b="0" i="0" sz="900" u="none" cap="none" strike="noStrike">
              <a:solidFill>
                <a:schemeClr val="dk1"/>
              </a:solidFill>
              <a:latin typeface="Calibri"/>
              <a:ea typeface="Calibri"/>
              <a:cs typeface="Calibri"/>
              <a:sym typeface="Calibri"/>
            </a:endParaRPr>
          </a:p>
        </p:txBody>
      </p:sp>
      <p:sp>
        <p:nvSpPr>
          <p:cNvPr id="367" name="Google Shape;367;p26"/>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The same location, now</a:t>
            </a:r>
            <a:endParaRPr b="0" i="0" sz="2400" u="none" cap="none" strike="noStrike">
              <a:solidFill>
                <a:schemeClr val="dk1"/>
              </a:solidFill>
              <a:latin typeface="Calibri"/>
              <a:ea typeface="Calibri"/>
              <a:cs typeface="Calibri"/>
              <a:sym typeface="Calibri"/>
            </a:endParaRPr>
          </a:p>
        </p:txBody>
      </p:sp>
      <p:sp>
        <p:nvSpPr>
          <p:cNvPr id="368" name="Google Shape;368;p26"/>
          <p:cNvSpPr/>
          <p:nvPr/>
        </p:nvSpPr>
        <p:spPr>
          <a:xfrm>
            <a:off x="699516" y="1591056"/>
            <a:ext cx="24003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B’s local locations</a:t>
            </a:r>
            <a:endParaRPr b="0" i="0" sz="900" u="none" cap="none" strike="noStrike">
              <a:solidFill>
                <a:schemeClr val="dk1"/>
              </a:solidFill>
              <a:latin typeface="Calibri"/>
              <a:ea typeface="Calibri"/>
              <a:cs typeface="Calibri"/>
              <a:sym typeface="Calibri"/>
            </a:endParaRPr>
          </a:p>
        </p:txBody>
      </p:sp>
      <p:sp>
        <p:nvSpPr>
          <p:cNvPr id="369" name="Google Shape;369;p26"/>
          <p:cNvSpPr/>
          <p:nvPr/>
        </p:nvSpPr>
        <p:spPr>
          <a:xfrm>
            <a:off x="699516" y="1851660"/>
            <a:ext cx="800100" cy="651510"/>
          </a:xfrm>
          <a:prstGeom prst="roundRect">
            <a:avLst>
              <a:gd fmla="val 4211" name="adj"/>
            </a:avLst>
          </a:prstGeom>
          <a:solidFill>
            <a:srgbClr val="FAEBD9"/>
          </a:solidFill>
          <a:ln cap="flat" cmpd="sng" w="17775">
            <a:solidFill>
              <a:srgbClr val="DE7A2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0" name="Google Shape;370;p26"/>
          <p:cNvSpPr/>
          <p:nvPr/>
        </p:nvSpPr>
        <p:spPr>
          <a:xfrm>
            <a:off x="699516" y="1851660"/>
            <a:ext cx="800100"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E7A29"/>
              </a:buClr>
              <a:buSzPts val="900"/>
              <a:buFont typeface="Courier New"/>
              <a:buNone/>
            </a:pPr>
            <a:r>
              <a:rPr b="0" i="0" lang="en" sz="900" u="none" cap="none" strike="noStrike">
                <a:solidFill>
                  <a:srgbClr val="DE7A29"/>
                </a:solidFill>
                <a:latin typeface="Courier New"/>
                <a:ea typeface="Courier New"/>
                <a:cs typeface="Courier New"/>
                <a:sym typeface="Courier New"/>
              </a:rPr>
              <a:t>b.h</a:t>
            </a:r>
            <a:endParaRPr b="0" i="0" sz="900" u="none" cap="none" strike="noStrike">
              <a:solidFill>
                <a:schemeClr val="dk1"/>
              </a:solidFill>
              <a:latin typeface="Calibri"/>
              <a:ea typeface="Calibri"/>
              <a:cs typeface="Calibri"/>
              <a:sym typeface="Calibri"/>
            </a:endParaRPr>
          </a:p>
        </p:txBody>
      </p:sp>
      <p:sp>
        <p:nvSpPr>
          <p:cNvPr id="371" name="Google Shape;371;p26"/>
          <p:cNvSpPr/>
          <p:nvPr/>
        </p:nvSpPr>
        <p:spPr>
          <a:xfrm>
            <a:off x="1499616" y="1851660"/>
            <a:ext cx="1000125" cy="651510"/>
          </a:xfrm>
          <a:prstGeom prst="roundRect">
            <a:avLst>
              <a:gd fmla="val 4211" name="adj"/>
            </a:avLst>
          </a:prstGeom>
          <a:solidFill>
            <a:srgbClr val="FFFFFF"/>
          </a:solidFill>
          <a:ln cap="flat" cmpd="sng" w="17775">
            <a:solidFill>
              <a:srgbClr val="CE4C3B"/>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2" name="Google Shape;372;p26"/>
          <p:cNvSpPr/>
          <p:nvPr/>
        </p:nvSpPr>
        <p:spPr>
          <a:xfrm>
            <a:off x="1499616" y="1851660"/>
            <a:ext cx="1000125"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373" name="Google Shape;373;p26"/>
          <p:cNvSpPr/>
          <p:nvPr/>
        </p:nvSpPr>
        <p:spPr>
          <a:xfrm>
            <a:off x="2499741" y="1851660"/>
            <a:ext cx="600075" cy="651510"/>
          </a:xfrm>
          <a:prstGeom prst="roundRect">
            <a:avLst>
              <a:gd fmla="val 4571" name="adj"/>
            </a:avLst>
          </a:prstGeom>
          <a:solidFill>
            <a:srgbClr val="EEF2F7"/>
          </a:solidFill>
          <a:ln cap="flat" cmpd="sng" w="17775">
            <a:solidFill>
              <a:srgbClr val="3A4A6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26"/>
          <p:cNvSpPr/>
          <p:nvPr/>
        </p:nvSpPr>
        <p:spPr>
          <a:xfrm>
            <a:off x="2499741" y="1851660"/>
            <a:ext cx="600075"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4A63"/>
              </a:buClr>
              <a:buSzPts val="900"/>
              <a:buFont typeface="Courier New"/>
              <a:buNone/>
            </a:pPr>
            <a:r>
              <a:rPr b="0" i="0" lang="en" sz="900" u="none" cap="none" strike="noStrike">
                <a:solidFill>
                  <a:srgbClr val="3A4A63"/>
                </a:solidFill>
                <a:latin typeface="Courier New"/>
                <a:ea typeface="Courier New"/>
                <a:cs typeface="Courier New"/>
                <a:sym typeface="Courier New"/>
              </a:rPr>
              <a:t>…</a:t>
            </a:r>
            <a:endParaRPr b="0" i="0" sz="900" u="none" cap="none" strike="noStrike">
              <a:solidFill>
                <a:schemeClr val="dk1"/>
              </a:solidFill>
              <a:latin typeface="Calibri"/>
              <a:ea typeface="Calibri"/>
              <a:cs typeface="Calibri"/>
              <a:sym typeface="Calibri"/>
            </a:endParaRPr>
          </a:p>
        </p:txBody>
      </p:sp>
      <p:sp>
        <p:nvSpPr>
          <p:cNvPr id="375" name="Google Shape;375;p26"/>
          <p:cNvSpPr/>
          <p:nvPr/>
        </p:nvSpPr>
        <p:spPr>
          <a:xfrm>
            <a:off x="1924241" y="2101977"/>
            <a:ext cx="150876" cy="150876"/>
          </a:xfrm>
          <a:prstGeom prst="ellipse">
            <a:avLst/>
          </a:prstGeom>
          <a:solidFill>
            <a:srgbClr val="CE4C3B"/>
          </a:solidFill>
          <a:ln cap="flat" cmpd="sng" w="1905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6" name="Google Shape;376;p26"/>
          <p:cNvSpPr/>
          <p:nvPr/>
        </p:nvSpPr>
        <p:spPr>
          <a:xfrm>
            <a:off x="1451039" y="2544318"/>
            <a:ext cx="109728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E4C3B"/>
              </a:buClr>
              <a:buSzPts val="900"/>
              <a:buFont typeface="Courier New"/>
              <a:buNone/>
            </a:pPr>
            <a:r>
              <a:rPr b="1" i="0" lang="en" sz="900" u="none" cap="none" strike="noStrike">
                <a:solidFill>
                  <a:srgbClr val="CE4C3B"/>
                </a:solidFill>
                <a:latin typeface="Courier New"/>
                <a:ea typeface="Courier New"/>
                <a:cs typeface="Courier New"/>
                <a:sym typeface="Courier New"/>
              </a:rPr>
              <a:t>local 65</a:t>
            </a:r>
            <a:endParaRPr b="0" i="0" sz="900" u="none" cap="none" strike="noStrike">
              <a:solidFill>
                <a:schemeClr val="dk1"/>
              </a:solidFill>
              <a:latin typeface="Calibri"/>
              <a:ea typeface="Calibri"/>
              <a:cs typeface="Calibri"/>
              <a:sym typeface="Calibri"/>
            </a:endParaRPr>
          </a:p>
        </p:txBody>
      </p:sp>
      <p:sp>
        <p:nvSpPr>
          <p:cNvPr id="377" name="Google Shape;377;p26"/>
          <p:cNvSpPr/>
          <p:nvPr/>
        </p:nvSpPr>
        <p:spPr>
          <a:xfrm>
            <a:off x="3408426" y="1875663"/>
            <a:ext cx="1474470" cy="603504"/>
          </a:xfrm>
          <a:prstGeom prst="roundRect">
            <a:avLst>
              <a:gd fmla="val 13636" name="adj"/>
            </a:avLst>
          </a:prstGeom>
          <a:solidFill>
            <a:srgbClr val="FFFFFF"/>
          </a:solidFill>
          <a:ln cap="flat" cmpd="sng" w="19050">
            <a:solidFill>
              <a:srgbClr val="2E9E5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26"/>
          <p:cNvSpPr/>
          <p:nvPr/>
        </p:nvSpPr>
        <p:spPr>
          <a:xfrm>
            <a:off x="3408426" y="1875663"/>
            <a:ext cx="147447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900"/>
              <a:buFont typeface="Courier New"/>
              <a:buNone/>
            </a:pPr>
            <a:r>
              <a:rPr b="1" i="0" lang="en" sz="900" u="none" cap="none" strike="noStrike">
                <a:solidFill>
                  <a:srgbClr val="0E8F8F"/>
                </a:solidFill>
                <a:latin typeface="Courier New"/>
                <a:ea typeface="Courier New"/>
                <a:cs typeface="Courier New"/>
                <a:sym typeface="Courier New"/>
              </a:rPr>
              <a:t>segment [40,90)</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9E5B"/>
              </a:buClr>
              <a:buSzPts val="1000"/>
              <a:buFont typeface="Courier New"/>
              <a:buNone/>
            </a:pPr>
            <a:r>
              <a:rPr b="1" i="0" lang="en" sz="1000" u="none" cap="none" strike="noStrike">
                <a:solidFill>
                  <a:srgbClr val="2E9E5B"/>
                </a:solidFill>
                <a:latin typeface="Courier New"/>
                <a:ea typeface="Courier New"/>
                <a:cs typeface="Courier New"/>
                <a:sym typeface="Courier New"/>
              </a:rPr>
              <a:t>delta + 60</a:t>
            </a:r>
            <a:endParaRPr b="0" i="0" sz="900" u="none" cap="none" strike="noStrike">
              <a:solidFill>
                <a:schemeClr val="dk1"/>
              </a:solidFill>
              <a:latin typeface="Calibri"/>
              <a:ea typeface="Calibri"/>
              <a:cs typeface="Calibri"/>
              <a:sym typeface="Calibri"/>
            </a:endParaRPr>
          </a:p>
        </p:txBody>
      </p:sp>
      <p:sp>
        <p:nvSpPr>
          <p:cNvPr id="379" name="Google Shape;379;p26"/>
          <p:cNvSpPr/>
          <p:nvPr/>
        </p:nvSpPr>
        <p:spPr>
          <a:xfrm>
            <a:off x="3408426" y="1683639"/>
            <a:ext cx="1474470" cy="19202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9E5B"/>
              </a:buClr>
              <a:buSzPts val="800"/>
              <a:buFont typeface="Calibri"/>
              <a:buNone/>
            </a:pPr>
            <a:r>
              <a:rPr b="0" i="1" lang="en" sz="800" u="none" cap="none" strike="noStrike">
                <a:solidFill>
                  <a:srgbClr val="2E9E5B"/>
                </a:solidFill>
                <a:latin typeface="Calibri"/>
                <a:ea typeface="Calibri"/>
                <a:cs typeface="Calibri"/>
                <a:sym typeface="Calibri"/>
              </a:rPr>
              <a:t>binary search</a:t>
            </a:r>
            <a:endParaRPr b="0" i="0" sz="800" u="none" cap="none" strike="noStrike">
              <a:solidFill>
                <a:schemeClr val="dk1"/>
              </a:solidFill>
              <a:latin typeface="Calibri"/>
              <a:ea typeface="Calibri"/>
              <a:cs typeface="Calibri"/>
              <a:sym typeface="Calibri"/>
            </a:endParaRPr>
          </a:p>
        </p:txBody>
      </p:sp>
      <p:cxnSp>
        <p:nvCxnSpPr>
          <p:cNvPr id="380" name="Google Shape;380;p26"/>
          <p:cNvCxnSpPr/>
          <p:nvPr/>
        </p:nvCxnSpPr>
        <p:spPr>
          <a:xfrm>
            <a:off x="4917186" y="2177415"/>
            <a:ext cx="342900" cy="0"/>
          </a:xfrm>
          <a:prstGeom prst="straightConnector1">
            <a:avLst/>
          </a:prstGeom>
          <a:noFill/>
          <a:ln cap="flat" cmpd="sng" w="31750">
            <a:solidFill>
              <a:srgbClr val="2E9E5B"/>
            </a:solidFill>
            <a:prstDash val="solid"/>
            <a:round/>
            <a:headEnd len="sm" w="sm" type="none"/>
            <a:tailEnd len="med" w="med" type="triangle"/>
          </a:ln>
        </p:spPr>
      </p:cxnSp>
      <p:sp>
        <p:nvSpPr>
          <p:cNvPr id="381" name="Google Shape;381;p26"/>
          <p:cNvSpPr/>
          <p:nvPr/>
        </p:nvSpPr>
        <p:spPr>
          <a:xfrm>
            <a:off x="5328666" y="1591056"/>
            <a:ext cx="21945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AA3B2"/>
              </a:buClr>
              <a:buSzPts val="900"/>
              <a:buFont typeface="Calibri"/>
              <a:buNone/>
            </a:pPr>
            <a:r>
              <a:rPr b="0" i="1" lang="en" sz="900" u="none" cap="none" strike="noStrike">
                <a:solidFill>
                  <a:srgbClr val="9AA3B2"/>
                </a:solidFill>
                <a:latin typeface="Calibri"/>
                <a:ea typeface="Calibri"/>
                <a:cs typeface="Calibri"/>
                <a:sym typeface="Calibri"/>
              </a:rPr>
              <a:t>A’s loaded space</a:t>
            </a:r>
            <a:endParaRPr b="0" i="0" sz="900" u="none" cap="none" strike="noStrike">
              <a:solidFill>
                <a:schemeClr val="dk1"/>
              </a:solidFill>
              <a:latin typeface="Calibri"/>
              <a:ea typeface="Calibri"/>
              <a:cs typeface="Calibri"/>
              <a:sym typeface="Calibri"/>
            </a:endParaRPr>
          </a:p>
        </p:txBody>
      </p:sp>
      <p:sp>
        <p:nvSpPr>
          <p:cNvPr id="382" name="Google Shape;382;p26"/>
          <p:cNvSpPr/>
          <p:nvPr/>
        </p:nvSpPr>
        <p:spPr>
          <a:xfrm>
            <a:off x="5328666" y="1851660"/>
            <a:ext cx="768096" cy="651510"/>
          </a:xfrm>
          <a:prstGeom prst="roundRect">
            <a:avLst>
              <a:gd fmla="val 4211" name="adj"/>
            </a:avLst>
          </a:prstGeom>
          <a:solidFill>
            <a:srgbClr val="EEF2F7"/>
          </a:solidFill>
          <a:ln cap="flat" cmpd="sng" w="15225">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26"/>
          <p:cNvSpPr/>
          <p:nvPr/>
        </p:nvSpPr>
        <p:spPr>
          <a:xfrm>
            <a:off x="5328666" y="1851660"/>
            <a:ext cx="768096"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B2"/>
              </a:buClr>
              <a:buSzPts val="900"/>
              <a:buFont typeface="Courier New"/>
              <a:buNone/>
            </a:pPr>
            <a:r>
              <a:rPr b="0" i="0" lang="en" sz="900" u="none" cap="none" strike="noStrike">
                <a:solidFill>
                  <a:srgbClr val="9AA3B2"/>
                </a:solidFill>
                <a:latin typeface="Courier New"/>
                <a:ea typeface="Courier New"/>
                <a:cs typeface="Courier New"/>
                <a:sym typeface="Courier New"/>
              </a:rPr>
              <a:t>…</a:t>
            </a:r>
            <a:endParaRPr b="0" i="0" sz="900" u="none" cap="none" strike="noStrike">
              <a:solidFill>
                <a:schemeClr val="dk1"/>
              </a:solidFill>
              <a:latin typeface="Calibri"/>
              <a:ea typeface="Calibri"/>
              <a:cs typeface="Calibri"/>
              <a:sym typeface="Calibri"/>
            </a:endParaRPr>
          </a:p>
        </p:txBody>
      </p:sp>
      <p:sp>
        <p:nvSpPr>
          <p:cNvPr id="384" name="Google Shape;384;p26"/>
          <p:cNvSpPr/>
          <p:nvPr/>
        </p:nvSpPr>
        <p:spPr>
          <a:xfrm>
            <a:off x="6096762" y="1851660"/>
            <a:ext cx="1097280" cy="651510"/>
          </a:xfrm>
          <a:prstGeom prst="roundRect">
            <a:avLst>
              <a:gd fmla="val 4211" name="adj"/>
            </a:avLst>
          </a:prstGeom>
          <a:solidFill>
            <a:srgbClr val="DFF0F0"/>
          </a:solidFill>
          <a:ln cap="flat" cmpd="sng" w="203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26"/>
          <p:cNvSpPr/>
          <p:nvPr/>
        </p:nvSpPr>
        <p:spPr>
          <a:xfrm>
            <a:off x="6096762" y="1851660"/>
            <a:ext cx="1097280" cy="6515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000"/>
              <a:buFont typeface="Courier New"/>
              <a:buNone/>
            </a:pPr>
            <a:r>
              <a:rPr b="0" i="0" lang="en" sz="1000" u="none" cap="none" strike="noStrike">
                <a:solidFill>
                  <a:srgbClr val="0E8F8F"/>
                </a:solidFill>
                <a:latin typeface="Courier New"/>
                <a:ea typeface="Courier New"/>
                <a:cs typeface="Courier New"/>
                <a:sym typeface="Courier New"/>
              </a:rPr>
              <a:t>foo.h</a:t>
            </a:r>
            <a:endParaRPr b="0" i="0" sz="1000" u="none" cap="none" strike="noStrike">
              <a:solidFill>
                <a:schemeClr val="dk1"/>
              </a:solidFill>
              <a:latin typeface="Calibri"/>
              <a:ea typeface="Calibri"/>
              <a:cs typeface="Calibri"/>
              <a:sym typeface="Calibri"/>
            </a:endParaRPr>
          </a:p>
        </p:txBody>
      </p:sp>
      <p:sp>
        <p:nvSpPr>
          <p:cNvPr id="386" name="Google Shape;386;p26"/>
          <p:cNvSpPr/>
          <p:nvPr/>
        </p:nvSpPr>
        <p:spPr>
          <a:xfrm>
            <a:off x="6569964" y="2101977"/>
            <a:ext cx="150876" cy="150876"/>
          </a:xfrm>
          <a:prstGeom prst="ellipse">
            <a:avLst/>
          </a:prstGeom>
          <a:solidFill>
            <a:srgbClr val="2E9E5B"/>
          </a:solidFill>
          <a:ln cap="flat" cmpd="sng" w="1905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26"/>
          <p:cNvSpPr/>
          <p:nvPr/>
        </p:nvSpPr>
        <p:spPr>
          <a:xfrm>
            <a:off x="6028182" y="2544318"/>
            <a:ext cx="123444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9E5B"/>
              </a:buClr>
              <a:buSzPts val="900"/>
              <a:buFont typeface="Courier New"/>
              <a:buNone/>
            </a:pPr>
            <a:r>
              <a:rPr b="1" i="0" lang="en" sz="900" u="none" cap="none" strike="noStrike">
                <a:solidFill>
                  <a:srgbClr val="2E9E5B"/>
                </a:solidFill>
                <a:latin typeface="Courier New"/>
                <a:ea typeface="Courier New"/>
                <a:cs typeface="Courier New"/>
                <a:sym typeface="Courier New"/>
              </a:rPr>
              <a:t>global 125</a:t>
            </a:r>
            <a:endParaRPr b="0" i="0" sz="900" u="none" cap="none" strike="noStrike">
              <a:solidFill>
                <a:schemeClr val="dk1"/>
              </a:solidFill>
              <a:latin typeface="Calibri"/>
              <a:ea typeface="Calibri"/>
              <a:cs typeface="Calibri"/>
              <a:sym typeface="Calibri"/>
            </a:endParaRPr>
          </a:p>
        </p:txBody>
      </p:sp>
      <p:sp>
        <p:nvSpPr>
          <p:cNvPr id="388" name="Google Shape;388;p26"/>
          <p:cNvSpPr/>
          <p:nvPr/>
        </p:nvSpPr>
        <p:spPr>
          <a:xfrm>
            <a:off x="425196" y="3669030"/>
            <a:ext cx="4114800" cy="857250"/>
          </a:xfrm>
          <a:prstGeom prst="roundRect">
            <a:avLst>
              <a:gd fmla="val 7200"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26"/>
          <p:cNvSpPr/>
          <p:nvPr/>
        </p:nvSpPr>
        <p:spPr>
          <a:xfrm>
            <a:off x="665226" y="3669030"/>
            <a:ext cx="3703320" cy="857250"/>
          </a:xfrm>
          <a:prstGeom prst="rect">
            <a:avLst/>
          </a:prstGeom>
          <a:noFill/>
          <a:ln>
            <a:noFill/>
          </a:ln>
        </p:spPr>
        <p:txBody>
          <a:bodyPr anchorCtr="0" anchor="ctr" bIns="34275" lIns="68575" spcFirstLastPara="1" rIns="68575" wrap="square" tIns="34275">
            <a:noAutofit/>
          </a:bodyPr>
          <a:lstStyle/>
          <a:p>
            <a:pPr indent="0" lvl="0" marL="0" marR="0" rtl="0" algn="l">
              <a:lnSpc>
                <a:spcPct val="135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Old   </a:t>
            </a:r>
            <a:r>
              <a:rPr b="1" i="0" lang="en" sz="1100" u="none" cap="none" strike="noStrike">
                <a:solidFill>
                  <a:srgbClr val="CE4C3B"/>
                </a:solidFill>
                <a:latin typeface="Courier New"/>
                <a:ea typeface="Courier New"/>
                <a:cs typeface="Courier New"/>
                <a:sym typeface="Courier New"/>
              </a:rPr>
              <a:t>local 65 → 265</a:t>
            </a:r>
            <a:r>
              <a:rPr b="0" i="1" lang="en" sz="900" u="none" cap="none" strike="noStrike">
                <a:solidFill>
                  <a:srgbClr val="9AA3B2"/>
                </a:solidFill>
                <a:latin typeface="Calibri"/>
                <a:ea typeface="Calibri"/>
                <a:cs typeface="Calibri"/>
                <a:sym typeface="Calibri"/>
              </a:rPr>
              <a:t>   its own copy</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New  </a:t>
            </a:r>
            <a:r>
              <a:rPr b="1" i="0" lang="en" sz="1100" u="none" cap="none" strike="noStrike">
                <a:solidFill>
                  <a:srgbClr val="2E9E5B"/>
                </a:solidFill>
                <a:latin typeface="Courier New"/>
                <a:ea typeface="Courier New"/>
                <a:cs typeface="Courier New"/>
                <a:sym typeface="Courier New"/>
              </a:rPr>
              <a:t>local 65 → 125</a:t>
            </a:r>
            <a:r>
              <a:rPr b="0" i="1" lang="en" sz="900" u="none" cap="none" strike="noStrike">
                <a:solidFill>
                  <a:srgbClr val="9AA3B2"/>
                </a:solidFill>
                <a:latin typeface="Calibri"/>
                <a:ea typeface="Calibri"/>
                <a:cs typeface="Calibri"/>
                <a:sym typeface="Calibri"/>
              </a:rPr>
              <a:t>   A’s shared copy</a:t>
            </a:r>
            <a:endParaRPr b="0" i="0" sz="1100" u="none" cap="none" strike="noStrike">
              <a:solidFill>
                <a:schemeClr val="dk1"/>
              </a:solidFill>
              <a:latin typeface="Calibri"/>
              <a:ea typeface="Calibri"/>
              <a:cs typeface="Calibri"/>
              <a:sym typeface="Calibri"/>
            </a:endParaRPr>
          </a:p>
        </p:txBody>
      </p:sp>
      <p:sp>
        <p:nvSpPr>
          <p:cNvPr id="390" name="Google Shape;390;p26"/>
          <p:cNvSpPr/>
          <p:nvPr/>
        </p:nvSpPr>
        <p:spPr>
          <a:xfrm>
            <a:off x="4780026" y="3669030"/>
            <a:ext cx="3936492" cy="857250"/>
          </a:xfrm>
          <a:prstGeom prst="roundRect">
            <a:avLst>
              <a:gd fmla="val 7200" name="adj"/>
            </a:avLst>
          </a:prstGeom>
          <a:solidFill>
            <a:srgbClr val="E1F2E8"/>
          </a:solidFill>
          <a:ln cap="flat" cmpd="sng" w="12700">
            <a:solidFill>
              <a:srgbClr val="AEDCC0"/>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26"/>
          <p:cNvSpPr/>
          <p:nvPr/>
        </p:nvSpPr>
        <p:spPr>
          <a:xfrm>
            <a:off x="5020056" y="3669030"/>
            <a:ext cx="3456432" cy="8572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1C2233"/>
              </a:buClr>
              <a:buSzPts val="1000"/>
              <a:buFont typeface="Calibri"/>
              <a:buNone/>
            </a:pPr>
            <a:r>
              <a:rPr b="0" i="0" lang="en" sz="1000" u="none" cap="none" strike="noStrike">
                <a:solidFill>
                  <a:srgbClr val="1C2233"/>
                </a:solidFill>
                <a:latin typeface="Calibri"/>
                <a:ea typeface="Calibri"/>
                <a:cs typeface="Calibri"/>
                <a:sym typeface="Calibri"/>
              </a:rPr>
              <a:t>With nothing deduplicated the table is a single segment = the old flat shift.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27"/>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RESULTS</a:t>
            </a:r>
            <a:endParaRPr b="0" i="0" sz="900" u="none" cap="none" strike="noStrike">
              <a:solidFill>
                <a:schemeClr val="dk1"/>
              </a:solidFill>
              <a:latin typeface="Calibri"/>
              <a:ea typeface="Calibri"/>
              <a:cs typeface="Calibri"/>
              <a:sym typeface="Calibri"/>
            </a:endParaRPr>
          </a:p>
        </p:txBody>
      </p:sp>
      <p:sp>
        <p:nvSpPr>
          <p:cNvPr id="398" name="Google Shape;398;p27"/>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Loaded SLoc space, measured on a custom Boost bench</a:t>
            </a:r>
            <a:endParaRPr b="0" i="0" sz="2400" u="none" cap="none" strike="noStrike">
              <a:solidFill>
                <a:schemeClr val="dk1"/>
              </a:solidFill>
              <a:latin typeface="Calibri"/>
              <a:ea typeface="Calibri"/>
              <a:cs typeface="Calibri"/>
              <a:sym typeface="Calibri"/>
            </a:endParaRPr>
          </a:p>
        </p:txBody>
      </p:sp>
      <p:sp>
        <p:nvSpPr>
          <p:cNvPr id="399" name="Google Shape;399;p27"/>
          <p:cNvSpPr/>
          <p:nvPr/>
        </p:nvSpPr>
        <p:spPr>
          <a:xfrm>
            <a:off x="5726430" y="1303020"/>
            <a:ext cx="2990088" cy="1165860"/>
          </a:xfrm>
          <a:prstGeom prst="roundRect">
            <a:avLst>
              <a:gd fmla="val 5294" name="adj"/>
            </a:avLst>
          </a:prstGeom>
          <a:solidFill>
            <a:srgbClr val="DFF0F0"/>
          </a:solidFill>
          <a:ln cap="flat" cmpd="sng" w="12700">
            <a:solidFill>
              <a:srgbClr val="0E8F8F"/>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0" name="Google Shape;400;p27"/>
          <p:cNvSpPr/>
          <p:nvPr/>
        </p:nvSpPr>
        <p:spPr>
          <a:xfrm>
            <a:off x="5932170" y="1303020"/>
            <a:ext cx="2578608" cy="11658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E8F8F"/>
              </a:buClr>
              <a:buSzPts val="3900"/>
              <a:buFont typeface="Cambria"/>
              <a:buNone/>
            </a:pPr>
            <a:r>
              <a:rPr b="1" i="0" lang="en" sz="3900" u="none" cap="none" strike="noStrike">
                <a:solidFill>
                  <a:srgbClr val="0E8F8F"/>
                </a:solidFill>
                <a:latin typeface="Cambria"/>
                <a:ea typeface="Cambria"/>
                <a:cs typeface="Cambria"/>
                <a:sym typeface="Cambria"/>
              </a:rPr>
              <a:t>40%</a:t>
            </a:r>
            <a:endParaRPr b="0" i="0" sz="39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1C2233"/>
              </a:buClr>
              <a:buSzPts val="1000"/>
              <a:buFont typeface="Calibri"/>
              <a:buNone/>
            </a:pPr>
            <a:r>
              <a:rPr b="0" i="0" lang="en" sz="1000" u="none" cap="none" strike="noStrike">
                <a:solidFill>
                  <a:srgbClr val="1C2233"/>
                </a:solidFill>
                <a:latin typeface="Calibri"/>
                <a:ea typeface="Calibri"/>
                <a:cs typeface="Calibri"/>
                <a:sym typeface="Calibri"/>
              </a:rPr>
              <a:t>less loaded SLoc space on the combined main TU</a:t>
            </a:r>
            <a:endParaRPr b="0" i="0" sz="3900" u="none" cap="none" strike="noStrike">
              <a:solidFill>
                <a:schemeClr val="dk1"/>
              </a:solidFill>
              <a:latin typeface="Calibri"/>
              <a:ea typeface="Calibri"/>
              <a:cs typeface="Calibri"/>
              <a:sym typeface="Calibri"/>
            </a:endParaRPr>
          </a:p>
        </p:txBody>
      </p:sp>
      <p:sp>
        <p:nvSpPr>
          <p:cNvPr id="401" name="Google Shape;401;p27"/>
          <p:cNvSpPr/>
          <p:nvPr/>
        </p:nvSpPr>
        <p:spPr>
          <a:xfrm>
            <a:off x="5932170" y="2263135"/>
            <a:ext cx="25785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E6675"/>
              </a:buClr>
              <a:buSzPts val="800"/>
              <a:buFont typeface="Calibri"/>
              <a:buNone/>
            </a:pPr>
            <a:r>
              <a:rPr b="0" i="1" lang="en" sz="800" u="none" cap="none" strike="noStrike">
                <a:solidFill>
                  <a:srgbClr val="5E6675"/>
                </a:solidFill>
                <a:latin typeface="Calibri"/>
                <a:ea typeface="Calibri"/>
                <a:cs typeface="Calibri"/>
                <a:sym typeface="Calibri"/>
              </a:rPr>
              <a:t>asio + beast + spirit + hana  ·  47.5 → 28.4 MB</a:t>
            </a:r>
            <a:endParaRPr b="0" i="0" sz="800" u="none" cap="none" strike="noStrike">
              <a:solidFill>
                <a:schemeClr val="dk1"/>
              </a:solidFill>
              <a:latin typeface="Calibri"/>
              <a:ea typeface="Calibri"/>
              <a:cs typeface="Calibri"/>
              <a:sym typeface="Calibri"/>
            </a:endParaRPr>
          </a:p>
        </p:txBody>
      </p:sp>
      <p:sp>
        <p:nvSpPr>
          <p:cNvPr id="402" name="Google Shape;402;p27"/>
          <p:cNvSpPr/>
          <p:nvPr/>
        </p:nvSpPr>
        <p:spPr>
          <a:xfrm>
            <a:off x="5726430" y="2640330"/>
            <a:ext cx="185385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Compile time</a:t>
            </a:r>
            <a:endParaRPr b="0" i="0" sz="1000" u="none" cap="none" strike="noStrike">
              <a:solidFill>
                <a:schemeClr val="dk1"/>
              </a:solidFill>
              <a:latin typeface="Calibri"/>
              <a:ea typeface="Calibri"/>
              <a:cs typeface="Calibri"/>
              <a:sym typeface="Calibri"/>
            </a:endParaRPr>
          </a:p>
        </p:txBody>
      </p:sp>
      <p:sp>
        <p:nvSpPr>
          <p:cNvPr id="403" name="Google Shape;403;p27"/>
          <p:cNvSpPr/>
          <p:nvPr/>
        </p:nvSpPr>
        <p:spPr>
          <a:xfrm>
            <a:off x="7221474" y="2640330"/>
            <a:ext cx="1495044" cy="37719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flat  (−0.9%)</a:t>
            </a:r>
            <a:endParaRPr b="0" i="0" sz="1000" u="none" cap="none" strike="noStrike">
              <a:solidFill>
                <a:schemeClr val="dk1"/>
              </a:solidFill>
              <a:latin typeface="Calibri"/>
              <a:ea typeface="Calibri"/>
              <a:cs typeface="Calibri"/>
              <a:sym typeface="Calibri"/>
            </a:endParaRPr>
          </a:p>
        </p:txBody>
      </p:sp>
      <p:cxnSp>
        <p:nvCxnSpPr>
          <p:cNvPr id="404" name="Google Shape;404;p27"/>
          <p:cNvCxnSpPr/>
          <p:nvPr/>
        </p:nvCxnSpPr>
        <p:spPr>
          <a:xfrm>
            <a:off x="5726430" y="3038094"/>
            <a:ext cx="2990088" cy="0"/>
          </a:xfrm>
          <a:prstGeom prst="straightConnector1">
            <a:avLst/>
          </a:prstGeom>
          <a:noFill/>
          <a:ln cap="flat" cmpd="sng" w="9525">
            <a:solidFill>
              <a:srgbClr val="D6DCE6"/>
            </a:solidFill>
            <a:prstDash val="solid"/>
            <a:round/>
            <a:headEnd len="sm" w="sm" type="none"/>
            <a:tailEnd len="sm" w="sm" type="none"/>
          </a:ln>
        </p:spPr>
      </p:cxnSp>
      <p:sp>
        <p:nvSpPr>
          <p:cNvPr id="405" name="Google Shape;405;p27"/>
          <p:cNvSpPr/>
          <p:nvPr/>
        </p:nvSpPr>
        <p:spPr>
          <a:xfrm>
            <a:off x="5726430" y="3065526"/>
            <a:ext cx="185385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Peak RSS</a:t>
            </a:r>
            <a:endParaRPr b="0" i="0" sz="1000" u="none" cap="none" strike="noStrike">
              <a:solidFill>
                <a:schemeClr val="dk1"/>
              </a:solidFill>
              <a:latin typeface="Calibri"/>
              <a:ea typeface="Calibri"/>
              <a:cs typeface="Calibri"/>
              <a:sym typeface="Calibri"/>
            </a:endParaRPr>
          </a:p>
        </p:txBody>
      </p:sp>
      <p:sp>
        <p:nvSpPr>
          <p:cNvPr id="406" name="Google Shape;406;p27"/>
          <p:cNvSpPr/>
          <p:nvPr/>
        </p:nvSpPr>
        <p:spPr>
          <a:xfrm>
            <a:off x="7221474" y="3065526"/>
            <a:ext cx="1495044" cy="37719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flat  (+1.2%)</a:t>
            </a:r>
            <a:endParaRPr b="0" i="0" sz="1000" u="none" cap="none" strike="noStrike">
              <a:solidFill>
                <a:schemeClr val="dk1"/>
              </a:solidFill>
              <a:latin typeface="Calibri"/>
              <a:ea typeface="Calibri"/>
              <a:cs typeface="Calibri"/>
              <a:sym typeface="Calibri"/>
            </a:endParaRPr>
          </a:p>
        </p:txBody>
      </p:sp>
      <p:cxnSp>
        <p:nvCxnSpPr>
          <p:cNvPr id="407" name="Google Shape;407;p27"/>
          <p:cNvCxnSpPr/>
          <p:nvPr/>
        </p:nvCxnSpPr>
        <p:spPr>
          <a:xfrm>
            <a:off x="5726430" y="3463290"/>
            <a:ext cx="2990088" cy="0"/>
          </a:xfrm>
          <a:prstGeom prst="straightConnector1">
            <a:avLst/>
          </a:prstGeom>
          <a:noFill/>
          <a:ln cap="flat" cmpd="sng" w="9525">
            <a:solidFill>
              <a:srgbClr val="D6DCE6"/>
            </a:solidFill>
            <a:prstDash val="solid"/>
            <a:round/>
            <a:headEnd len="sm" w="sm" type="none"/>
            <a:tailEnd len="sm" w="sm" type="none"/>
          </a:ln>
        </p:spPr>
      </p:cxnSp>
      <p:sp>
        <p:nvSpPr>
          <p:cNvPr id="408" name="Google Shape;408;p27"/>
          <p:cNvSpPr/>
          <p:nvPr/>
        </p:nvSpPr>
        <p:spPr>
          <a:xfrm>
            <a:off x="5726430" y="3490722"/>
            <a:ext cx="185385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stat / open calls</a:t>
            </a:r>
            <a:endParaRPr b="0" i="0" sz="1000" u="none" cap="none" strike="noStrike">
              <a:solidFill>
                <a:schemeClr val="dk1"/>
              </a:solidFill>
              <a:latin typeface="Calibri"/>
              <a:ea typeface="Calibri"/>
              <a:cs typeface="Calibri"/>
              <a:sym typeface="Calibri"/>
            </a:endParaRPr>
          </a:p>
        </p:txBody>
      </p:sp>
      <p:sp>
        <p:nvSpPr>
          <p:cNvPr id="409" name="Google Shape;409;p27"/>
          <p:cNvSpPr/>
          <p:nvPr/>
        </p:nvSpPr>
        <p:spPr>
          <a:xfrm>
            <a:off x="7221474" y="3490722"/>
            <a:ext cx="1495044" cy="37719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9E5B"/>
              </a:buClr>
              <a:buSzPts val="1000"/>
              <a:buFont typeface="Calibri"/>
              <a:buNone/>
            </a:pPr>
            <a:r>
              <a:rPr b="1" i="0" lang="en" sz="1000" u="none" cap="none" strike="noStrike">
                <a:solidFill>
                  <a:srgbClr val="2E9E5B"/>
                </a:solidFill>
                <a:latin typeface="Calibri"/>
                <a:ea typeface="Calibri"/>
                <a:cs typeface="Calibri"/>
                <a:sym typeface="Calibri"/>
              </a:rPr>
              <a:t>identical</a:t>
            </a:r>
            <a:endParaRPr b="0" i="0" sz="1000" u="none" cap="none" strike="noStrike">
              <a:solidFill>
                <a:schemeClr val="dk1"/>
              </a:solidFill>
              <a:latin typeface="Calibri"/>
              <a:ea typeface="Calibri"/>
              <a:cs typeface="Calibri"/>
              <a:sym typeface="Calibri"/>
            </a:endParaRPr>
          </a:p>
        </p:txBody>
      </p:sp>
      <p:cxnSp>
        <p:nvCxnSpPr>
          <p:cNvPr id="410" name="Google Shape;410;p27"/>
          <p:cNvCxnSpPr/>
          <p:nvPr/>
        </p:nvCxnSpPr>
        <p:spPr>
          <a:xfrm>
            <a:off x="5726430" y="3888486"/>
            <a:ext cx="2990088" cy="0"/>
          </a:xfrm>
          <a:prstGeom prst="straightConnector1">
            <a:avLst/>
          </a:prstGeom>
          <a:noFill/>
          <a:ln cap="flat" cmpd="sng" w="9525">
            <a:solidFill>
              <a:srgbClr val="D6DCE6"/>
            </a:solidFill>
            <a:prstDash val="solid"/>
            <a:round/>
            <a:headEnd len="sm" w="sm" type="none"/>
            <a:tailEnd len="sm" w="sm" type="none"/>
          </a:ln>
        </p:spPr>
      </p:cxnSp>
      <p:sp>
        <p:nvSpPr>
          <p:cNvPr id="411" name="Google Shape;411;p27"/>
          <p:cNvSpPr/>
          <p:nvPr/>
        </p:nvSpPr>
        <p:spPr>
          <a:xfrm>
            <a:off x="5726430" y="3915918"/>
            <a:ext cx="185385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config (nothing shared)</a:t>
            </a:r>
            <a:endParaRPr b="0" i="0" sz="1000" u="none" cap="none" strike="noStrike">
              <a:solidFill>
                <a:schemeClr val="dk1"/>
              </a:solidFill>
              <a:latin typeface="Calibri"/>
              <a:ea typeface="Calibri"/>
              <a:cs typeface="Calibri"/>
              <a:sym typeface="Calibri"/>
            </a:endParaRPr>
          </a:p>
        </p:txBody>
      </p:sp>
      <p:sp>
        <p:nvSpPr>
          <p:cNvPr id="412" name="Google Shape;412;p27"/>
          <p:cNvSpPr/>
          <p:nvPr/>
        </p:nvSpPr>
        <p:spPr>
          <a:xfrm>
            <a:off x="7221474" y="3915918"/>
            <a:ext cx="1495044" cy="37719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3B2"/>
              </a:buClr>
              <a:buSzPts val="1000"/>
              <a:buFont typeface="Calibri"/>
              <a:buNone/>
            </a:pPr>
            <a:r>
              <a:rPr b="1" i="0" lang="en" sz="1000" u="none" cap="none" strike="noStrike">
                <a:solidFill>
                  <a:srgbClr val="9AA3B2"/>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cxnSp>
        <p:nvCxnSpPr>
          <p:cNvPr id="413" name="Google Shape;413;p27"/>
          <p:cNvCxnSpPr/>
          <p:nvPr/>
        </p:nvCxnSpPr>
        <p:spPr>
          <a:xfrm>
            <a:off x="5726430" y="4313682"/>
            <a:ext cx="2990088" cy="0"/>
          </a:xfrm>
          <a:prstGeom prst="straightConnector1">
            <a:avLst/>
          </a:prstGeom>
          <a:noFill/>
          <a:ln cap="flat" cmpd="sng" w="9525">
            <a:solidFill>
              <a:srgbClr val="D6DCE6"/>
            </a:solidFill>
            <a:prstDash val="solid"/>
            <a:round/>
            <a:headEnd len="sm" w="sm" type="none"/>
            <a:tailEnd len="sm" w="sm" type="none"/>
          </a:ln>
        </p:spPr>
      </p:cxnSp>
      <p:sp>
        <p:nvSpPr>
          <p:cNvPr id="414" name="Google Shape;414;p27"/>
          <p:cNvSpPr/>
          <p:nvPr/>
        </p:nvSpPr>
        <p:spPr>
          <a:xfrm>
            <a:off x="425196" y="3943350"/>
            <a:ext cx="5074920" cy="548640"/>
          </a:xfrm>
          <a:prstGeom prst="rect">
            <a:avLst/>
          </a:prstGeom>
          <a:noFill/>
          <a:ln>
            <a:noFill/>
          </a:ln>
        </p:spPr>
        <p:txBody>
          <a:bodyPr anchorCtr="0" anchor="t" bIns="34275" lIns="68575" spcFirstLastPara="1" rIns="68575" wrap="square" tIns="34275">
            <a:noAutofit/>
          </a:bodyPr>
          <a:lstStyle/>
          <a:p>
            <a:pPr indent="0" lvl="0" marL="0" marR="0" rtl="0" algn="ctr">
              <a:lnSpc>
                <a:spcPct val="105000"/>
              </a:lnSpc>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Self-contained libraries with nothing shared show 0% </a:t>
            </a:r>
            <a:r>
              <a:rPr lang="en" sz="1000">
                <a:solidFill>
                  <a:srgbClr val="5E6675"/>
                </a:solidFill>
                <a:latin typeface="Calibri"/>
                <a:ea typeface="Calibri"/>
                <a:cs typeface="Calibri"/>
                <a:sym typeface="Calibri"/>
              </a:rPr>
              <a:t>i.e., </a:t>
            </a:r>
            <a:r>
              <a:rPr b="0" i="0" lang="en" sz="1000" u="none" cap="none" strike="noStrike">
                <a:solidFill>
                  <a:srgbClr val="5E6675"/>
                </a:solidFill>
                <a:latin typeface="Calibri"/>
                <a:ea typeface="Calibri"/>
                <a:cs typeface="Calibri"/>
                <a:sym typeface="Calibri"/>
              </a:rPr>
              <a:t>the dedup does nothing when there is nothing to reuse. </a:t>
            </a:r>
            <a:endParaRPr b="0" i="0" sz="1000" u="none" cap="none" strike="noStrike">
              <a:solidFill>
                <a:schemeClr val="dk1"/>
              </a:solidFill>
              <a:latin typeface="Calibri"/>
              <a:ea typeface="Calibri"/>
              <a:cs typeface="Calibri"/>
              <a:sym typeface="Calibri"/>
            </a:endParaRPr>
          </a:p>
        </p:txBody>
      </p:sp>
      <p:pic>
        <p:nvPicPr>
          <p:cNvPr id="415" name="Google Shape;415;p27" title="Screenshot 2026-07-29 at 10.21.19 AM_Nero_AI_Image_Upscaler_Photo_Face.png"/>
          <p:cNvPicPr preferRelativeResize="0"/>
          <p:nvPr/>
        </p:nvPicPr>
        <p:blipFill>
          <a:blip r:embed="rId3">
            <a:alphaModFix/>
          </a:blip>
          <a:stretch>
            <a:fillRect/>
          </a:stretch>
        </p:blipFill>
        <p:spPr>
          <a:xfrm>
            <a:off x="152400" y="1194816"/>
            <a:ext cx="5414344" cy="25961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28"/>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SCALING</a:t>
            </a:r>
            <a:endParaRPr b="0" i="0" sz="900" u="none" cap="none" strike="noStrike">
              <a:solidFill>
                <a:schemeClr val="dk1"/>
              </a:solidFill>
              <a:latin typeface="Calibri"/>
              <a:ea typeface="Calibri"/>
              <a:cs typeface="Calibri"/>
              <a:sym typeface="Calibri"/>
            </a:endParaRPr>
          </a:p>
        </p:txBody>
      </p:sp>
      <p:sp>
        <p:nvSpPr>
          <p:cNvPr id="422" name="Google Shape;422;p28"/>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40% is not a magic number</a:t>
            </a:r>
            <a:endParaRPr b="0" i="0" sz="2400" u="none" cap="none" strike="noStrike">
              <a:solidFill>
                <a:schemeClr val="dk1"/>
              </a:solidFill>
              <a:latin typeface="Calibri"/>
              <a:ea typeface="Calibri"/>
              <a:cs typeface="Calibri"/>
              <a:sym typeface="Calibri"/>
            </a:endParaRPr>
          </a:p>
        </p:txBody>
      </p:sp>
      <p:sp>
        <p:nvSpPr>
          <p:cNvPr id="423" name="Google Shape;423;p28"/>
          <p:cNvSpPr/>
          <p:nvPr/>
        </p:nvSpPr>
        <p:spPr>
          <a:xfrm>
            <a:off x="425211" y="1575680"/>
            <a:ext cx="2743200" cy="1062900"/>
          </a:xfrm>
          <a:prstGeom prst="roundRect">
            <a:avLst>
              <a:gd fmla="val 7742" name="adj"/>
            </a:avLst>
          </a:prstGeom>
          <a:solidFill>
            <a:srgbClr val="EEF2F7"/>
          </a:solidFill>
          <a:ln cap="flat" cmpd="sng" w="12700">
            <a:solidFill>
              <a:srgbClr val="D6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28"/>
          <p:cNvSpPr/>
          <p:nvPr/>
        </p:nvSpPr>
        <p:spPr>
          <a:xfrm>
            <a:off x="425211" y="1678550"/>
            <a:ext cx="27432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E6675"/>
              </a:buClr>
              <a:buSzPts val="1000"/>
              <a:buFont typeface="Calibri"/>
              <a:buNone/>
            </a:pPr>
            <a:r>
              <a:rPr b="0" i="0" lang="en" sz="1000" u="none" cap="none" strike="noStrike">
                <a:solidFill>
                  <a:srgbClr val="5E6675"/>
                </a:solidFill>
                <a:latin typeface="Calibri"/>
                <a:ea typeface="Calibri"/>
                <a:cs typeface="Calibri"/>
                <a:sym typeface="Calibri"/>
              </a:rPr>
              <a:t>a file shared by n modules</a:t>
            </a:r>
            <a:endParaRPr b="0" i="0" sz="1000" u="none" cap="none" strike="noStrike">
              <a:solidFill>
                <a:schemeClr val="dk1"/>
              </a:solidFill>
              <a:latin typeface="Calibri"/>
              <a:ea typeface="Calibri"/>
              <a:cs typeface="Calibri"/>
              <a:sym typeface="Calibri"/>
            </a:endParaRPr>
          </a:p>
        </p:txBody>
      </p:sp>
      <p:sp>
        <p:nvSpPr>
          <p:cNvPr id="425" name="Google Shape;425;p28"/>
          <p:cNvSpPr/>
          <p:nvPr/>
        </p:nvSpPr>
        <p:spPr>
          <a:xfrm>
            <a:off x="425211" y="1952870"/>
            <a:ext cx="2743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2600"/>
              <a:buFont typeface="Cambria"/>
              <a:buNone/>
            </a:pPr>
            <a:r>
              <a:rPr b="1" i="0" lang="en" sz="2600" u="none" cap="none" strike="noStrike">
                <a:solidFill>
                  <a:srgbClr val="0E8F8F"/>
                </a:solidFill>
                <a:latin typeface="Cambria"/>
                <a:ea typeface="Cambria"/>
                <a:cs typeface="Cambria"/>
                <a:sym typeface="Cambria"/>
              </a:rPr>
              <a:t>n − 1</a:t>
            </a:r>
            <a:endParaRPr b="0" i="0" sz="2600" u="none" cap="none" strike="noStrike">
              <a:solidFill>
                <a:schemeClr val="dk1"/>
              </a:solidFill>
              <a:latin typeface="Calibri"/>
              <a:ea typeface="Calibri"/>
              <a:cs typeface="Calibri"/>
              <a:sym typeface="Calibri"/>
            </a:endParaRPr>
          </a:p>
        </p:txBody>
      </p:sp>
      <p:cxnSp>
        <p:nvCxnSpPr>
          <p:cNvPr id="426" name="Google Shape;426;p28"/>
          <p:cNvCxnSpPr/>
          <p:nvPr/>
        </p:nvCxnSpPr>
        <p:spPr>
          <a:xfrm>
            <a:off x="1179591" y="2309486"/>
            <a:ext cx="1234500" cy="0"/>
          </a:xfrm>
          <a:prstGeom prst="straightConnector1">
            <a:avLst/>
          </a:prstGeom>
          <a:noFill/>
          <a:ln cap="flat" cmpd="sng" w="25400">
            <a:solidFill>
              <a:srgbClr val="1C2233"/>
            </a:solidFill>
            <a:prstDash val="solid"/>
            <a:round/>
            <a:headEnd len="sm" w="sm" type="none"/>
            <a:tailEnd len="sm" w="sm" type="none"/>
          </a:ln>
        </p:spPr>
      </p:cxnSp>
      <p:sp>
        <p:nvSpPr>
          <p:cNvPr id="427" name="Google Shape;427;p28"/>
          <p:cNvSpPr/>
          <p:nvPr/>
        </p:nvSpPr>
        <p:spPr>
          <a:xfrm>
            <a:off x="425211" y="2309486"/>
            <a:ext cx="27432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233"/>
              </a:buClr>
              <a:buSzPts val="2300"/>
              <a:buFont typeface="Cambria"/>
              <a:buNone/>
            </a:pPr>
            <a:r>
              <a:rPr b="1" i="0" lang="en" sz="2300" u="none" cap="none" strike="noStrike">
                <a:solidFill>
                  <a:srgbClr val="1C2233"/>
                </a:solidFill>
                <a:latin typeface="Cambria"/>
                <a:ea typeface="Cambria"/>
                <a:cs typeface="Cambria"/>
                <a:sym typeface="Cambria"/>
              </a:rPr>
              <a:t>n</a:t>
            </a:r>
            <a:endParaRPr b="0" i="0" sz="2300" u="none" cap="none" strike="noStrike">
              <a:solidFill>
                <a:schemeClr val="dk1"/>
              </a:solidFill>
              <a:latin typeface="Calibri"/>
              <a:ea typeface="Calibri"/>
              <a:cs typeface="Calibri"/>
              <a:sym typeface="Calibri"/>
            </a:endParaRPr>
          </a:p>
        </p:txBody>
      </p:sp>
      <p:sp>
        <p:nvSpPr>
          <p:cNvPr id="428" name="Google Shape;428;p28"/>
          <p:cNvSpPr/>
          <p:nvPr/>
        </p:nvSpPr>
        <p:spPr>
          <a:xfrm>
            <a:off x="3444255" y="1592830"/>
            <a:ext cx="1611600" cy="1062900"/>
          </a:xfrm>
          <a:prstGeom prst="roundRect">
            <a:avLst>
              <a:gd fmla="val 5806"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9" name="Google Shape;429;p28"/>
          <p:cNvSpPr/>
          <p:nvPr/>
        </p:nvSpPr>
        <p:spPr>
          <a:xfrm>
            <a:off x="3634755" y="1726556"/>
            <a:ext cx="16116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2600"/>
              <a:buFont typeface="Cambria"/>
              <a:buNone/>
            </a:pPr>
            <a:r>
              <a:rPr b="1" i="0" lang="en" sz="2600" u="none" cap="none" strike="noStrike">
                <a:solidFill>
                  <a:srgbClr val="0E8F8F"/>
                </a:solidFill>
                <a:latin typeface="Cambria"/>
                <a:ea typeface="Cambria"/>
                <a:cs typeface="Cambria"/>
                <a:sym typeface="Cambria"/>
              </a:rPr>
              <a:t>50%</a:t>
            </a:r>
            <a:endParaRPr b="0" i="0" sz="2600" u="none" cap="none" strike="noStrike">
              <a:solidFill>
                <a:schemeClr val="dk1"/>
              </a:solidFill>
              <a:latin typeface="Calibri"/>
              <a:ea typeface="Calibri"/>
              <a:cs typeface="Calibri"/>
              <a:sym typeface="Calibri"/>
            </a:endParaRPr>
          </a:p>
        </p:txBody>
      </p:sp>
      <p:sp>
        <p:nvSpPr>
          <p:cNvPr id="430" name="Google Shape;430;p28"/>
          <p:cNvSpPr/>
          <p:nvPr/>
        </p:nvSpPr>
        <p:spPr>
          <a:xfrm>
            <a:off x="3634755" y="2261480"/>
            <a:ext cx="1611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2 modules</a:t>
            </a:r>
            <a:endParaRPr b="0" i="0" sz="1100" u="none" cap="none" strike="noStrike">
              <a:solidFill>
                <a:schemeClr val="dk1"/>
              </a:solidFill>
              <a:latin typeface="Calibri"/>
              <a:ea typeface="Calibri"/>
              <a:cs typeface="Calibri"/>
              <a:sym typeface="Calibri"/>
            </a:endParaRPr>
          </a:p>
        </p:txBody>
      </p:sp>
      <p:sp>
        <p:nvSpPr>
          <p:cNvPr id="431" name="Google Shape;431;p28"/>
          <p:cNvSpPr/>
          <p:nvPr/>
        </p:nvSpPr>
        <p:spPr>
          <a:xfrm>
            <a:off x="5486415" y="1575680"/>
            <a:ext cx="1611600" cy="1062900"/>
          </a:xfrm>
          <a:prstGeom prst="roundRect">
            <a:avLst>
              <a:gd fmla="val 5806"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2" name="Google Shape;432;p28"/>
          <p:cNvSpPr/>
          <p:nvPr/>
        </p:nvSpPr>
        <p:spPr>
          <a:xfrm>
            <a:off x="5486415" y="1726556"/>
            <a:ext cx="16116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2600"/>
              <a:buFont typeface="Cambria"/>
              <a:buNone/>
            </a:pPr>
            <a:r>
              <a:rPr b="1" i="0" lang="en" sz="2600" u="none" cap="none" strike="noStrike">
                <a:solidFill>
                  <a:srgbClr val="0E8F8F"/>
                </a:solidFill>
                <a:latin typeface="Cambria"/>
                <a:ea typeface="Cambria"/>
                <a:cs typeface="Cambria"/>
                <a:sym typeface="Cambria"/>
              </a:rPr>
              <a:t>90%</a:t>
            </a:r>
            <a:endParaRPr b="0" i="0" sz="2600" u="none" cap="none" strike="noStrike">
              <a:solidFill>
                <a:schemeClr val="dk1"/>
              </a:solidFill>
              <a:latin typeface="Calibri"/>
              <a:ea typeface="Calibri"/>
              <a:cs typeface="Calibri"/>
              <a:sym typeface="Calibri"/>
            </a:endParaRPr>
          </a:p>
        </p:txBody>
      </p:sp>
      <p:sp>
        <p:nvSpPr>
          <p:cNvPr id="433" name="Google Shape;433;p28"/>
          <p:cNvSpPr/>
          <p:nvPr/>
        </p:nvSpPr>
        <p:spPr>
          <a:xfrm>
            <a:off x="5486415" y="2261480"/>
            <a:ext cx="1611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10 modules</a:t>
            </a:r>
            <a:endParaRPr b="0" i="0" sz="1100" u="none" cap="none" strike="noStrike">
              <a:solidFill>
                <a:schemeClr val="dk1"/>
              </a:solidFill>
              <a:latin typeface="Calibri"/>
              <a:ea typeface="Calibri"/>
              <a:cs typeface="Calibri"/>
              <a:sym typeface="Calibri"/>
            </a:endParaRPr>
          </a:p>
        </p:txBody>
      </p:sp>
      <p:sp>
        <p:nvSpPr>
          <p:cNvPr id="434" name="Google Shape;434;p28"/>
          <p:cNvSpPr/>
          <p:nvPr/>
        </p:nvSpPr>
        <p:spPr>
          <a:xfrm>
            <a:off x="7338075" y="1575680"/>
            <a:ext cx="1611600" cy="1062900"/>
          </a:xfrm>
          <a:prstGeom prst="roundRect">
            <a:avLst>
              <a:gd fmla="val 5806"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p28"/>
          <p:cNvSpPr/>
          <p:nvPr/>
        </p:nvSpPr>
        <p:spPr>
          <a:xfrm>
            <a:off x="7338075" y="1726556"/>
            <a:ext cx="16116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2600"/>
              <a:buFont typeface="Cambria"/>
              <a:buNone/>
            </a:pPr>
            <a:r>
              <a:rPr b="1" i="0" lang="en" sz="2600" u="none" cap="none" strike="noStrike">
                <a:solidFill>
                  <a:srgbClr val="0E8F8F"/>
                </a:solidFill>
                <a:latin typeface="Cambria"/>
                <a:ea typeface="Cambria"/>
                <a:cs typeface="Cambria"/>
                <a:sym typeface="Cambria"/>
              </a:rPr>
              <a:t>→ 100%</a:t>
            </a:r>
            <a:endParaRPr b="0" i="0" sz="2600" u="none" cap="none" strike="noStrike">
              <a:solidFill>
                <a:schemeClr val="dk1"/>
              </a:solidFill>
              <a:latin typeface="Calibri"/>
              <a:ea typeface="Calibri"/>
              <a:cs typeface="Calibri"/>
              <a:sym typeface="Calibri"/>
            </a:endParaRPr>
          </a:p>
        </p:txBody>
      </p:sp>
      <p:sp>
        <p:nvSpPr>
          <p:cNvPr id="436" name="Google Shape;436;p28"/>
          <p:cNvSpPr/>
          <p:nvPr/>
        </p:nvSpPr>
        <p:spPr>
          <a:xfrm>
            <a:off x="7338075" y="2261480"/>
            <a:ext cx="1611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many</a:t>
            </a:r>
            <a:endParaRPr b="0" i="0" sz="1100" u="none" cap="none" strike="noStrike">
              <a:solidFill>
                <a:schemeClr val="dk1"/>
              </a:solidFill>
              <a:latin typeface="Calibri"/>
              <a:ea typeface="Calibri"/>
              <a:cs typeface="Calibri"/>
              <a:sym typeface="Calibri"/>
            </a:endParaRPr>
          </a:p>
        </p:txBody>
      </p:sp>
      <p:sp>
        <p:nvSpPr>
          <p:cNvPr id="437" name="Google Shape;437;p28"/>
          <p:cNvSpPr/>
          <p:nvPr/>
        </p:nvSpPr>
        <p:spPr>
          <a:xfrm>
            <a:off x="425196" y="3188970"/>
            <a:ext cx="8291322" cy="1303020"/>
          </a:xfrm>
          <a:prstGeom prst="roundRect">
            <a:avLst>
              <a:gd fmla="val 4737" name="adj"/>
            </a:avLst>
          </a:prstGeom>
          <a:solidFill>
            <a:srgbClr val="F5F7FA"/>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8" name="Google Shape;438;p28"/>
          <p:cNvSpPr/>
          <p:nvPr/>
        </p:nvSpPr>
        <p:spPr>
          <a:xfrm>
            <a:off x="699516" y="3188970"/>
            <a:ext cx="7742682" cy="1303020"/>
          </a:xfrm>
          <a:prstGeom prst="rect">
            <a:avLst/>
          </a:prstGeom>
          <a:no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1C2233"/>
              </a:buClr>
              <a:buSzPts val="1300"/>
              <a:buFont typeface="Calibri"/>
              <a:buNone/>
            </a:pPr>
            <a:r>
              <a:rPr b="1" i="0" lang="en" sz="1300" u="none" cap="none" strike="noStrike">
                <a:solidFill>
                  <a:srgbClr val="1C2233"/>
                </a:solidFill>
                <a:latin typeface="Calibri"/>
                <a:ea typeface="Calibri"/>
                <a:cs typeface="Calibri"/>
                <a:sym typeface="Calibri"/>
              </a:rPr>
              <a:t>The 40% just reflects how much this particular module set happens to share.</a:t>
            </a:r>
            <a:endParaRPr b="0" i="0" sz="13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5E6675"/>
              </a:buClr>
              <a:buSzPts val="1100"/>
              <a:buFont typeface="Calibri"/>
              <a:buNone/>
            </a:pPr>
            <a:r>
              <a:rPr b="0" i="0" lang="en" sz="1100" u="none" cap="none" strike="noStrike">
                <a:solidFill>
                  <a:srgbClr val="5E6675"/>
                </a:solidFill>
                <a:latin typeface="Calibri"/>
                <a:ea typeface="Calibri"/>
                <a:cs typeface="Calibri"/>
                <a:sym typeface="Calibri"/>
              </a:rPr>
              <a:t>More shared headers → a bigger number on the same code.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p:nvPr/>
        </p:nvSpPr>
        <p:spPr>
          <a:xfrm>
            <a:off x="425196" y="28803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8F8F"/>
              </a:buClr>
              <a:buSzPts val="900"/>
              <a:buFont typeface="Calibri"/>
              <a:buNone/>
            </a:pPr>
            <a:r>
              <a:rPr b="1" i="0" lang="en" sz="900" u="none" cap="none" strike="noStrike">
                <a:solidFill>
                  <a:srgbClr val="0E8F8F"/>
                </a:solidFill>
                <a:latin typeface="Calibri"/>
                <a:ea typeface="Calibri"/>
                <a:cs typeface="Calibri"/>
                <a:sym typeface="Calibri"/>
              </a:rPr>
              <a:t>STATUS</a:t>
            </a:r>
            <a:endParaRPr b="0" i="0" sz="900" u="none" cap="none" strike="noStrike">
              <a:solidFill>
                <a:schemeClr val="dk1"/>
              </a:solidFill>
              <a:latin typeface="Calibri"/>
              <a:ea typeface="Calibri"/>
              <a:cs typeface="Calibri"/>
              <a:sym typeface="Calibri"/>
            </a:endParaRPr>
          </a:p>
        </p:txBody>
      </p:sp>
      <p:sp>
        <p:nvSpPr>
          <p:cNvPr id="445" name="Google Shape;445;p29"/>
          <p:cNvSpPr/>
          <p:nvPr/>
        </p:nvSpPr>
        <p:spPr>
          <a:xfrm>
            <a:off x="425196" y="493776"/>
            <a:ext cx="8291322"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C2233"/>
              </a:buClr>
              <a:buSzPts val="2400"/>
              <a:buFont typeface="Cambria"/>
              <a:buNone/>
            </a:pPr>
            <a:r>
              <a:rPr b="1" i="0" lang="en" sz="2400" u="none" cap="none" strike="noStrike">
                <a:solidFill>
                  <a:srgbClr val="1C2233"/>
                </a:solidFill>
                <a:latin typeface="Cambria"/>
                <a:ea typeface="Cambria"/>
                <a:cs typeface="Cambria"/>
                <a:sym typeface="Cambria"/>
              </a:rPr>
              <a:t>Where it stands</a:t>
            </a:r>
            <a:endParaRPr b="0" i="0" sz="2400" u="none" cap="none" strike="noStrike">
              <a:solidFill>
                <a:schemeClr val="dk1"/>
              </a:solidFill>
              <a:latin typeface="Calibri"/>
              <a:ea typeface="Calibri"/>
              <a:cs typeface="Calibri"/>
              <a:sym typeface="Calibri"/>
            </a:endParaRPr>
          </a:p>
        </p:txBody>
      </p:sp>
      <p:sp>
        <p:nvSpPr>
          <p:cNvPr id="446" name="Google Shape;446;p29"/>
          <p:cNvSpPr/>
          <p:nvPr/>
        </p:nvSpPr>
        <p:spPr>
          <a:xfrm>
            <a:off x="425196" y="1577340"/>
            <a:ext cx="8291322" cy="925830"/>
          </a:xfrm>
          <a:prstGeom prst="roundRect">
            <a:avLst>
              <a:gd fmla="val 6667"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29"/>
          <p:cNvSpPr/>
          <p:nvPr/>
        </p:nvSpPr>
        <p:spPr>
          <a:xfrm>
            <a:off x="665226" y="1820799"/>
            <a:ext cx="438912" cy="438912"/>
          </a:xfrm>
          <a:prstGeom prst="ellipse">
            <a:avLst/>
          </a:prstGeom>
          <a:solidFill>
            <a:srgbClr val="DFF0F0"/>
          </a:solidFill>
          <a:ln cap="flat" cmpd="sng" w="1905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8" name="Google Shape;448;p29"/>
          <p:cNvSpPr/>
          <p:nvPr/>
        </p:nvSpPr>
        <p:spPr>
          <a:xfrm>
            <a:off x="665226" y="1820799"/>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1700"/>
              <a:buFont typeface="Cambria"/>
              <a:buNone/>
            </a:pPr>
            <a:r>
              <a:rPr b="1" i="0" lang="en" sz="1700" u="none" cap="none" strike="noStrike">
                <a:solidFill>
                  <a:srgbClr val="0E8F8F"/>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449" name="Google Shape;449;p29"/>
          <p:cNvSpPr/>
          <p:nvPr/>
        </p:nvSpPr>
        <p:spPr>
          <a:xfrm>
            <a:off x="1316736" y="1728216"/>
            <a:ext cx="7194042"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500"/>
              <a:buFont typeface="Cambria"/>
              <a:buNone/>
            </a:pPr>
            <a:r>
              <a:rPr b="1" i="0" lang="en" sz="1500" u="none" cap="none" strike="noStrike">
                <a:solidFill>
                  <a:srgbClr val="1C2233"/>
                </a:solidFill>
                <a:latin typeface="Cambria"/>
                <a:ea typeface="Cambria"/>
                <a:cs typeface="Cambria"/>
                <a:sym typeface="Cambria"/>
              </a:rPr>
              <a:t>Posted &amp; under review</a:t>
            </a:r>
            <a:endParaRPr b="0" i="0" sz="1500" u="none" cap="none" strike="noStrike">
              <a:solidFill>
                <a:schemeClr val="dk1"/>
              </a:solidFill>
              <a:latin typeface="Calibri"/>
              <a:ea typeface="Calibri"/>
              <a:cs typeface="Calibri"/>
              <a:sym typeface="Calibri"/>
            </a:endParaRPr>
          </a:p>
        </p:txBody>
      </p:sp>
      <p:sp>
        <p:nvSpPr>
          <p:cNvPr id="450" name="Google Shape;450;p29"/>
          <p:cNvSpPr/>
          <p:nvPr/>
        </p:nvSpPr>
        <p:spPr>
          <a:xfrm>
            <a:off x="1316736" y="2043684"/>
            <a:ext cx="7125462" cy="37719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5E6675"/>
              </a:buClr>
              <a:buSzPts val="1000"/>
              <a:buFont typeface="Calibri"/>
              <a:buNone/>
            </a:pPr>
            <a:r>
              <a:rPr lang="en" sz="1000">
                <a:solidFill>
                  <a:srgbClr val="5E6675"/>
                </a:solidFill>
                <a:latin typeface="Calibri"/>
                <a:ea typeface="Calibri"/>
                <a:cs typeface="Calibri"/>
                <a:sym typeface="Calibri"/>
              </a:rPr>
              <a:t>It's up on upstream; maintainers testing it against their internal codebases.</a:t>
            </a:r>
            <a:endParaRPr b="0" i="0" sz="1000" u="none" cap="none" strike="noStrike">
              <a:solidFill>
                <a:schemeClr val="dk1"/>
              </a:solidFill>
              <a:latin typeface="Calibri"/>
              <a:ea typeface="Calibri"/>
              <a:cs typeface="Calibri"/>
              <a:sym typeface="Calibri"/>
            </a:endParaRPr>
          </a:p>
        </p:txBody>
      </p:sp>
      <p:sp>
        <p:nvSpPr>
          <p:cNvPr id="451" name="Google Shape;451;p29"/>
          <p:cNvSpPr/>
          <p:nvPr/>
        </p:nvSpPr>
        <p:spPr>
          <a:xfrm>
            <a:off x="425196" y="2695194"/>
            <a:ext cx="8291322" cy="925830"/>
          </a:xfrm>
          <a:prstGeom prst="roundRect">
            <a:avLst>
              <a:gd fmla="val 6667"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2" name="Google Shape;452;p29"/>
          <p:cNvSpPr/>
          <p:nvPr/>
        </p:nvSpPr>
        <p:spPr>
          <a:xfrm>
            <a:off x="665226" y="2938653"/>
            <a:ext cx="438912" cy="438912"/>
          </a:xfrm>
          <a:prstGeom prst="ellipse">
            <a:avLst/>
          </a:prstGeom>
          <a:solidFill>
            <a:srgbClr val="E6EDFD"/>
          </a:solidFill>
          <a:ln cap="flat" cmpd="sng" w="19050">
            <a:solidFill>
              <a:srgbClr val="2F6B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29"/>
          <p:cNvSpPr/>
          <p:nvPr/>
        </p:nvSpPr>
        <p:spPr>
          <a:xfrm>
            <a:off x="665226" y="2938653"/>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BEB"/>
              </a:buClr>
              <a:buSzPts val="1700"/>
              <a:buFont typeface="Cambria"/>
              <a:buNone/>
            </a:pPr>
            <a:r>
              <a:rPr b="1" i="0" lang="en" sz="1700" u="none" cap="none" strike="noStrike">
                <a:solidFill>
                  <a:srgbClr val="2F6BEB"/>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454" name="Google Shape;454;p29"/>
          <p:cNvSpPr/>
          <p:nvPr/>
        </p:nvSpPr>
        <p:spPr>
          <a:xfrm>
            <a:off x="1316736" y="2846070"/>
            <a:ext cx="7194042"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500"/>
              <a:buFont typeface="Cambria"/>
              <a:buNone/>
            </a:pPr>
            <a:r>
              <a:rPr b="1" lang="en" sz="1500">
                <a:solidFill>
                  <a:srgbClr val="1C2233"/>
                </a:solidFill>
                <a:latin typeface="Cambria"/>
                <a:ea typeface="Cambria"/>
                <a:cs typeface="Cambria"/>
                <a:sym typeface="Cambria"/>
              </a:rPr>
              <a:t>Reduce peak RSS</a:t>
            </a:r>
            <a:endParaRPr b="0" i="0" sz="1500" u="none" cap="none" strike="noStrike">
              <a:solidFill>
                <a:schemeClr val="dk1"/>
              </a:solidFill>
              <a:latin typeface="Calibri"/>
              <a:ea typeface="Calibri"/>
              <a:cs typeface="Calibri"/>
              <a:sym typeface="Calibri"/>
            </a:endParaRPr>
          </a:p>
        </p:txBody>
      </p:sp>
      <p:sp>
        <p:nvSpPr>
          <p:cNvPr id="455" name="Google Shape;455;p29"/>
          <p:cNvSpPr/>
          <p:nvPr/>
        </p:nvSpPr>
        <p:spPr>
          <a:xfrm>
            <a:off x="1316736" y="3161538"/>
            <a:ext cx="7125462" cy="37719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5E6675"/>
              </a:buClr>
              <a:buSzPts val="1000"/>
              <a:buFont typeface="Calibri"/>
              <a:buNone/>
            </a:pPr>
            <a:r>
              <a:rPr lang="en" sz="1000">
                <a:solidFill>
                  <a:srgbClr val="5E6675"/>
                </a:solidFill>
                <a:latin typeface="Calibri"/>
                <a:ea typeface="Calibri"/>
                <a:cs typeface="Calibri"/>
                <a:sym typeface="Calibri"/>
              </a:rPr>
              <a:t>Right now RSS ticks up slightly on our custom bench;  find out why and bring it down.</a:t>
            </a:r>
            <a:endParaRPr b="0" i="0" sz="1000" u="none" cap="none" strike="noStrike">
              <a:solidFill>
                <a:schemeClr val="dk1"/>
              </a:solidFill>
              <a:latin typeface="Calibri"/>
              <a:ea typeface="Calibri"/>
              <a:cs typeface="Calibri"/>
              <a:sym typeface="Calibri"/>
            </a:endParaRPr>
          </a:p>
        </p:txBody>
      </p:sp>
      <p:sp>
        <p:nvSpPr>
          <p:cNvPr id="456" name="Google Shape;456;p29"/>
          <p:cNvSpPr/>
          <p:nvPr/>
        </p:nvSpPr>
        <p:spPr>
          <a:xfrm>
            <a:off x="425196" y="3813048"/>
            <a:ext cx="8291322" cy="925830"/>
          </a:xfrm>
          <a:prstGeom prst="roundRect">
            <a:avLst>
              <a:gd fmla="val 6667" name="adj"/>
            </a:avLst>
          </a:prstGeom>
          <a:solidFill>
            <a:srgbClr val="FFFFFF"/>
          </a:solidFill>
          <a:ln cap="flat" cmpd="sng" w="12700">
            <a:solidFill>
              <a:srgbClr val="D6DCE6"/>
            </a:solidFill>
            <a:prstDash val="solid"/>
            <a:round/>
            <a:headEnd len="sm" w="sm" type="none"/>
            <a:tailEnd len="sm" w="sm" type="none"/>
          </a:ln>
          <a:effectLst>
            <a:outerShdw blurRad="88900" rotWithShape="0" algn="bl" dir="5400000" dist="31750">
              <a:srgbClr val="AEB8C6">
                <a:alpha val="3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7" name="Google Shape;457;p29"/>
          <p:cNvSpPr/>
          <p:nvPr/>
        </p:nvSpPr>
        <p:spPr>
          <a:xfrm>
            <a:off x="665226" y="4056507"/>
            <a:ext cx="438912" cy="438912"/>
          </a:xfrm>
          <a:prstGeom prst="ellipse">
            <a:avLst/>
          </a:prstGeom>
          <a:solidFill>
            <a:srgbClr val="E1F2E8"/>
          </a:solidFill>
          <a:ln cap="flat" cmpd="sng" w="19050">
            <a:solidFill>
              <a:srgbClr val="2E9E5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8" name="Google Shape;458;p29"/>
          <p:cNvSpPr/>
          <p:nvPr/>
        </p:nvSpPr>
        <p:spPr>
          <a:xfrm>
            <a:off x="665226" y="4056507"/>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E5B"/>
              </a:buClr>
              <a:buSzPts val="1700"/>
              <a:buFont typeface="Cambria"/>
              <a:buNone/>
            </a:pPr>
            <a:r>
              <a:rPr b="1" i="0" lang="en" sz="1700" u="none" cap="none" strike="noStrike">
                <a:solidFill>
                  <a:srgbClr val="2E9E5B"/>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459" name="Google Shape;459;p29"/>
          <p:cNvSpPr/>
          <p:nvPr/>
        </p:nvSpPr>
        <p:spPr>
          <a:xfrm>
            <a:off x="1316736" y="3963924"/>
            <a:ext cx="7194042"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233"/>
              </a:buClr>
              <a:buSzPts val="1500"/>
              <a:buFont typeface="Cambria"/>
              <a:buNone/>
            </a:pPr>
            <a:r>
              <a:rPr b="1" lang="en" sz="1500">
                <a:solidFill>
                  <a:srgbClr val="1C2233"/>
                </a:solidFill>
                <a:latin typeface="Cambria"/>
                <a:ea typeface="Cambria"/>
                <a:cs typeface="Cambria"/>
                <a:sym typeface="Cambria"/>
              </a:rPr>
              <a:t>Reused-entry include chain</a:t>
            </a:r>
            <a:endParaRPr b="0" i="0" sz="1500" u="none" cap="none" strike="noStrike">
              <a:solidFill>
                <a:schemeClr val="dk1"/>
              </a:solidFill>
              <a:latin typeface="Calibri"/>
              <a:ea typeface="Calibri"/>
              <a:cs typeface="Calibri"/>
              <a:sym typeface="Calibri"/>
            </a:endParaRPr>
          </a:p>
        </p:txBody>
      </p:sp>
      <p:sp>
        <p:nvSpPr>
          <p:cNvPr id="460" name="Google Shape;460;p29"/>
          <p:cNvSpPr/>
          <p:nvPr/>
        </p:nvSpPr>
        <p:spPr>
          <a:xfrm>
            <a:off x="1316736" y="4279392"/>
            <a:ext cx="7125462" cy="37719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5E6675"/>
              </a:buClr>
              <a:buSzPts val="1000"/>
              <a:buFont typeface="Calibri"/>
              <a:buNone/>
            </a:pPr>
            <a:r>
              <a:rPr lang="en" sz="1000">
                <a:solidFill>
                  <a:srgbClr val="5E6675"/>
                </a:solidFill>
                <a:latin typeface="Calibri"/>
                <a:ea typeface="Calibri"/>
                <a:cs typeface="Calibri"/>
                <a:sym typeface="Calibri"/>
              </a:rPr>
              <a:t>Confirm a redirected file inheriting the primary's "included from" info is fine as-is, or add a fix if not.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